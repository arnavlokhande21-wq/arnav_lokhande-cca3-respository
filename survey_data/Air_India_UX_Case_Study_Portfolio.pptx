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Google Sans Medium"/>
      <p:regular r:id="rId32"/>
      <p:bold r:id="rId33"/>
      <p:italic r:id="rId34"/>
      <p:boldItalic r:id="rId35"/>
    </p:embeddedFont>
    <p:embeddedFont>
      <p:font typeface="Open Sans SemiBold"/>
      <p:regular r:id="rId36"/>
      <p:bold r:id="rId37"/>
      <p:italic r:id="rId38"/>
      <p:boldItalic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4" roundtripDataSignature="AMtx7miaTJaFwby4rLM6FVoxyVHD13zK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font" Target="fonts/GoogleSansMedium-regular.fntdata"/><Relationship Id="rId33" Type="http://schemas.openxmlformats.org/officeDocument/2006/relationships/font" Target="fonts/GoogleSansMedium-bold.fntdata"/><Relationship Id="rId34" Type="http://schemas.openxmlformats.org/officeDocument/2006/relationships/font" Target="fonts/GoogleSansMedium-italic.fntdata"/><Relationship Id="rId35" Type="http://schemas.openxmlformats.org/officeDocument/2006/relationships/font" Target="fonts/GoogleSansMedium-boldItalic.fntdata"/><Relationship Id="rId36" Type="http://schemas.openxmlformats.org/officeDocument/2006/relationships/font" Target="fonts/OpenSansSemiBold-regular.fntdata"/><Relationship Id="rId37" Type="http://schemas.openxmlformats.org/officeDocument/2006/relationships/font" Target="fonts/OpenSansSemiBold-bold.fntdata"/><Relationship Id="rId38" Type="http://schemas.openxmlformats.org/officeDocument/2006/relationships/font" Target="fonts/OpenSansSemiBold-italic.fntdata"/><Relationship Id="rId39" Type="http://schemas.openxmlformats.org/officeDocument/2006/relationships/font" Target="fonts/OpenSansSemiBold-boldItalic.fntdata"/><Relationship Id="rId40" Type="http://schemas.openxmlformats.org/officeDocument/2006/relationships/font" Target="fonts/OpenSans-regular.fntdata"/><Relationship Id="rId41" Type="http://schemas.openxmlformats.org/officeDocument/2006/relationships/font" Target="fonts/OpenSans-bold.fntdata"/><Relationship Id="rId42" Type="http://schemas.openxmlformats.org/officeDocument/2006/relationships/font" Target="fonts/OpenSans-italic.fntdata"/><Relationship Id="rId43" Type="http://schemas.openxmlformats.org/officeDocument/2006/relationships/font" Target="fonts/OpenSans-boldItalic.fntdata"/><Relationship Id="rId4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7"/>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14" name="Shape 14"/>
        <p:cNvGrpSpPr/>
        <p:nvPr/>
      </p:nvGrpSpPr>
      <p:grpSpPr>
        <a:xfrm>
          <a:off x="0" y="0"/>
          <a:ext cx="0" cy="0"/>
          <a:chOff x="0" y="0"/>
          <a:chExt cx="0" cy="0"/>
        </a:xfrm>
      </p:grpSpPr>
      <p:sp>
        <p:nvSpPr>
          <p:cNvPr id="15" name="Google Shape;1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0"/>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 name="Google Shape;17;p30"/>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8" name="Shape 18"/>
        <p:cNvGrpSpPr/>
        <p:nvPr/>
      </p:nvGrpSpPr>
      <p:grpSpPr>
        <a:xfrm>
          <a:off x="0" y="0"/>
          <a:ext cx="0" cy="0"/>
          <a:chOff x="0" y="0"/>
          <a:chExt cx="0" cy="0"/>
        </a:xfrm>
      </p:grpSpPr>
      <p:sp>
        <p:nvSpPr>
          <p:cNvPr id="19" name="Google Shape;1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1"/>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 name="Google Shape;21;p31"/>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22" name="Shape 22"/>
        <p:cNvGrpSpPr/>
        <p:nvPr/>
      </p:nvGrpSpPr>
      <p:grpSpPr>
        <a:xfrm>
          <a:off x="0" y="0"/>
          <a:ext cx="0" cy="0"/>
          <a:chOff x="0" y="0"/>
          <a:chExt cx="0" cy="0"/>
        </a:xfrm>
      </p:grpSpPr>
      <p:sp>
        <p:nvSpPr>
          <p:cNvPr id="23" name="Google Shape;2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32"/>
          <p:cNvSpPr/>
          <p:nvPr/>
        </p:nvSpPr>
        <p:spPr>
          <a:xfrm>
            <a:off x="0" y="329125"/>
            <a:ext cx="69300" cy="7530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 name="Google Shape;25;p32"/>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26" name="Shape 26"/>
        <p:cNvGrpSpPr/>
        <p:nvPr/>
      </p:nvGrpSpPr>
      <p:grpSpPr>
        <a:xfrm>
          <a:off x="0" y="0"/>
          <a:ext cx="0" cy="0"/>
          <a:chOff x="0" y="0"/>
          <a:chExt cx="0" cy="0"/>
        </a:xfrm>
      </p:grpSpPr>
      <p:sp>
        <p:nvSpPr>
          <p:cNvPr id="27" name="Google Shape;2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33"/>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 name="Google Shape;29;p33"/>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30" name="Shape 30"/>
        <p:cNvGrpSpPr/>
        <p:nvPr/>
      </p:nvGrpSpPr>
      <p:grpSpPr>
        <a:xfrm>
          <a:off x="0" y="0"/>
          <a:ext cx="0" cy="0"/>
          <a:chOff x="0" y="0"/>
          <a:chExt cx="0" cy="0"/>
        </a:xfrm>
      </p:grpSpPr>
      <p:sp>
        <p:nvSpPr>
          <p:cNvPr id="31" name="Google Shape;3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34"/>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 name="Google Shape;33;p34"/>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6" name="Google Shape;3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 name="Shape 37"/>
        <p:cNvGrpSpPr/>
        <p:nvPr/>
      </p:nvGrpSpPr>
      <p:grpSpPr>
        <a:xfrm>
          <a:off x="0" y="0"/>
          <a:ext cx="0" cy="0"/>
          <a:chOff x="0" y="0"/>
          <a:chExt cx="0" cy="0"/>
        </a:xfrm>
      </p:grpSpPr>
      <p:sp>
        <p:nvSpPr>
          <p:cNvPr id="38" name="Google Shape;38;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4" name="Google Shape;44;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3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1" name="Google Shape;51;p3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sp>
        <p:nvSpPr>
          <p:cNvPr id="54" name="Google Shape;54;p4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5" name="Google Shape;5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4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9" name="Google Shape;59;p4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0" name="Google Shape;60;p4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sp>
        <p:nvSpPr>
          <p:cNvPr id="63" name="Google Shape;63;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4" name="Google Shape;6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4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4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8" name="Google Shape;6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69" name="Shape 69"/>
        <p:cNvGrpSpPr/>
        <p:nvPr/>
      </p:nvGrpSpPr>
      <p:grpSpPr>
        <a:xfrm>
          <a:off x="0" y="0"/>
          <a:ext cx="0" cy="0"/>
          <a:chOff x="0" y="0"/>
          <a:chExt cx="0" cy="0"/>
        </a:xfrm>
      </p:grpSpPr>
      <p:sp>
        <p:nvSpPr>
          <p:cNvPr id="70" name="Google Shape;7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44"/>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2" name="Google Shape;72;p44"/>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73" name="Shape 73"/>
        <p:cNvGrpSpPr/>
        <p:nvPr/>
      </p:nvGrpSpPr>
      <p:grpSpPr>
        <a:xfrm>
          <a:off x="0" y="0"/>
          <a:ext cx="0" cy="0"/>
          <a:chOff x="0" y="0"/>
          <a:chExt cx="0" cy="0"/>
        </a:xfrm>
      </p:grpSpPr>
      <p:sp>
        <p:nvSpPr>
          <p:cNvPr id="74" name="Google Shape;7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45"/>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6" name="Google Shape;76;p45"/>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77" name="Shape 77"/>
        <p:cNvGrpSpPr/>
        <p:nvPr/>
      </p:nvGrpSpPr>
      <p:grpSpPr>
        <a:xfrm>
          <a:off x="0" y="0"/>
          <a:ext cx="0" cy="0"/>
          <a:chOff x="0" y="0"/>
          <a:chExt cx="0" cy="0"/>
        </a:xfrm>
      </p:grpSpPr>
      <p:sp>
        <p:nvSpPr>
          <p:cNvPr id="78" name="Google Shape;7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46"/>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 name="Google Shape;80;p46"/>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ype="blank">
  <p:cSld name="BLANK">
    <p:spTree>
      <p:nvGrpSpPr>
        <p:cNvPr id="85" name="Shape 85"/>
        <p:cNvGrpSpPr/>
        <p:nvPr/>
      </p:nvGrpSpPr>
      <p:grpSpPr>
        <a:xfrm>
          <a:off x="0" y="0"/>
          <a:ext cx="0" cy="0"/>
          <a:chOff x="0" y="0"/>
          <a:chExt cx="0" cy="0"/>
        </a:xfrm>
      </p:grpSpPr>
      <p:sp>
        <p:nvSpPr>
          <p:cNvPr id="86" name="Google Shape;86;p29"/>
          <p:cNvSpPr/>
          <p:nvPr/>
        </p:nvSpPr>
        <p:spPr>
          <a:xfrm>
            <a:off x="0" y="329125"/>
            <a:ext cx="69300" cy="753000"/>
          </a:xfrm>
          <a:prstGeom prst="rect">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p29"/>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 name="Shape 88"/>
        <p:cNvGrpSpPr/>
        <p:nvPr/>
      </p:nvGrpSpPr>
      <p:grpSpPr>
        <a:xfrm>
          <a:off x="0" y="0"/>
          <a:ext cx="0" cy="0"/>
          <a:chOff x="0" y="0"/>
          <a:chExt cx="0" cy="0"/>
        </a:xfrm>
      </p:grpSpPr>
      <p:sp>
        <p:nvSpPr>
          <p:cNvPr id="89" name="Google Shape;89;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0" name="Google Shape;90;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1" name="Shape 91"/>
        <p:cNvGrpSpPr/>
        <p:nvPr/>
      </p:nvGrpSpPr>
      <p:grpSpPr>
        <a:xfrm>
          <a:off x="0" y="0"/>
          <a:ext cx="0" cy="0"/>
          <a:chOff x="0" y="0"/>
          <a:chExt cx="0" cy="0"/>
        </a:xfrm>
      </p:grpSpPr>
      <p:sp>
        <p:nvSpPr>
          <p:cNvPr id="92" name="Google Shape;92;p4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3" name="Google Shape;9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4" name="Shape 94"/>
        <p:cNvGrpSpPr/>
        <p:nvPr/>
      </p:nvGrpSpPr>
      <p:grpSpPr>
        <a:xfrm>
          <a:off x="0" y="0"/>
          <a:ext cx="0" cy="0"/>
          <a:chOff x="0" y="0"/>
          <a:chExt cx="0" cy="0"/>
        </a:xfrm>
      </p:grpSpPr>
      <p:sp>
        <p:nvSpPr>
          <p:cNvPr id="95" name="Google Shape;9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6" name="Google Shape;96;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7" name="Google Shape;97;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0" name="Google Shape;10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1" name="Google Shape;10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2" name="Google Shape;10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sp>
        <p:nvSpPr>
          <p:cNvPr id="104" name="Google Shape;104;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 name="Google Shape;10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6" name="Shape 106"/>
        <p:cNvGrpSpPr/>
        <p:nvPr/>
      </p:nvGrpSpPr>
      <p:grpSpPr>
        <a:xfrm>
          <a:off x="0" y="0"/>
          <a:ext cx="0" cy="0"/>
          <a:chOff x="0" y="0"/>
          <a:chExt cx="0" cy="0"/>
        </a:xfrm>
      </p:grpSpPr>
      <p:sp>
        <p:nvSpPr>
          <p:cNvPr id="107" name="Google Shape;107;p5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8" name="Google Shape;108;p5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9" name="Google Shape;10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0" name="Shape 110"/>
        <p:cNvGrpSpPr/>
        <p:nvPr/>
      </p:nvGrpSpPr>
      <p:grpSpPr>
        <a:xfrm>
          <a:off x="0" y="0"/>
          <a:ext cx="0" cy="0"/>
          <a:chOff x="0" y="0"/>
          <a:chExt cx="0" cy="0"/>
        </a:xfrm>
      </p:grpSpPr>
      <p:sp>
        <p:nvSpPr>
          <p:cNvPr id="111" name="Google Shape;111;p5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2" name="Google Shape;112;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3" name="Shape 113"/>
        <p:cNvGrpSpPr/>
        <p:nvPr/>
      </p:nvGrpSpPr>
      <p:grpSpPr>
        <a:xfrm>
          <a:off x="0" y="0"/>
          <a:ext cx="0" cy="0"/>
          <a:chOff x="0" y="0"/>
          <a:chExt cx="0" cy="0"/>
        </a:xfrm>
      </p:grpSpPr>
      <p:sp>
        <p:nvSpPr>
          <p:cNvPr id="114" name="Google Shape;114;p5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6" name="Google Shape;116;p5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7" name="Google Shape;117;p5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9" name="Shape 119"/>
        <p:cNvGrpSpPr/>
        <p:nvPr/>
      </p:nvGrpSpPr>
      <p:grpSpPr>
        <a:xfrm>
          <a:off x="0" y="0"/>
          <a:ext cx="0" cy="0"/>
          <a:chOff x="0" y="0"/>
          <a:chExt cx="0" cy="0"/>
        </a:xfrm>
      </p:grpSpPr>
      <p:sp>
        <p:nvSpPr>
          <p:cNvPr id="120" name="Google Shape;120;p5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1" name="Google Shape;12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2" name="Shape 122"/>
        <p:cNvGrpSpPr/>
        <p:nvPr/>
      </p:nvGrpSpPr>
      <p:grpSpPr>
        <a:xfrm>
          <a:off x="0" y="0"/>
          <a:ext cx="0" cy="0"/>
          <a:chOff x="0" y="0"/>
          <a:chExt cx="0" cy="0"/>
        </a:xfrm>
      </p:grpSpPr>
      <p:sp>
        <p:nvSpPr>
          <p:cNvPr id="123" name="Google Shape;123;p5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4" name="Google Shape;124;p5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5" name="Google Shape;125;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p:cSld name="BLANK_1">
    <p:spTree>
      <p:nvGrpSpPr>
        <p:cNvPr id="126" name="Shape 126"/>
        <p:cNvGrpSpPr/>
        <p:nvPr/>
      </p:nvGrpSpPr>
      <p:grpSpPr>
        <a:xfrm>
          <a:off x="0" y="0"/>
          <a:ext cx="0" cy="0"/>
          <a:chOff x="0" y="0"/>
          <a:chExt cx="0" cy="0"/>
        </a:xfrm>
      </p:grpSpPr>
      <p:sp>
        <p:nvSpPr>
          <p:cNvPr id="127" name="Google Shape;127;p57"/>
          <p:cNvSpPr/>
          <p:nvPr/>
        </p:nvSpPr>
        <p:spPr>
          <a:xfrm>
            <a:off x="0" y="329125"/>
            <a:ext cx="69300" cy="7530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57"/>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2">
  <p:cSld name="BLANK_1_2">
    <p:spTree>
      <p:nvGrpSpPr>
        <p:cNvPr id="129" name="Shape 129"/>
        <p:cNvGrpSpPr/>
        <p:nvPr/>
      </p:nvGrpSpPr>
      <p:grpSpPr>
        <a:xfrm>
          <a:off x="0" y="0"/>
          <a:ext cx="0" cy="0"/>
          <a:chOff x="0" y="0"/>
          <a:chExt cx="0" cy="0"/>
        </a:xfrm>
      </p:grpSpPr>
      <p:sp>
        <p:nvSpPr>
          <p:cNvPr id="130" name="Google Shape;130;p58"/>
          <p:cNvSpPr/>
          <p:nvPr/>
        </p:nvSpPr>
        <p:spPr>
          <a:xfrm>
            <a:off x="0" y="329125"/>
            <a:ext cx="69300" cy="4485300"/>
          </a:xfrm>
          <a:prstGeom prst="rect">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1" name="Google Shape;131;p58"/>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2">
  <p:cSld name="BLANK_1_2_1">
    <p:spTree>
      <p:nvGrpSpPr>
        <p:cNvPr id="132" name="Shape 132"/>
        <p:cNvGrpSpPr/>
        <p:nvPr/>
      </p:nvGrpSpPr>
      <p:grpSpPr>
        <a:xfrm>
          <a:off x="0" y="0"/>
          <a:ext cx="0" cy="0"/>
          <a:chOff x="0" y="0"/>
          <a:chExt cx="0" cy="0"/>
        </a:xfrm>
      </p:grpSpPr>
      <p:sp>
        <p:nvSpPr>
          <p:cNvPr id="133" name="Google Shape;133;p59"/>
          <p:cNvSpPr/>
          <p:nvPr/>
        </p:nvSpPr>
        <p:spPr>
          <a:xfrm>
            <a:off x="0" y="329125"/>
            <a:ext cx="69300" cy="4485300"/>
          </a:xfrm>
          <a:prstGeom prst="rect">
            <a:avLst/>
          </a:prstGeom>
          <a:solidFill>
            <a:srgbClr val="FBBC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9"/>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2">
  <p:cSld name="BLANK_1_2_1_1">
    <p:spTree>
      <p:nvGrpSpPr>
        <p:cNvPr id="135" name="Shape 135"/>
        <p:cNvGrpSpPr/>
        <p:nvPr/>
      </p:nvGrpSpPr>
      <p:grpSpPr>
        <a:xfrm>
          <a:off x="0" y="0"/>
          <a:ext cx="0" cy="0"/>
          <a:chOff x="0" y="0"/>
          <a:chExt cx="0" cy="0"/>
        </a:xfrm>
      </p:grpSpPr>
      <p:sp>
        <p:nvSpPr>
          <p:cNvPr id="136" name="Google Shape;136;p60"/>
          <p:cNvSpPr/>
          <p:nvPr/>
        </p:nvSpPr>
        <p:spPr>
          <a:xfrm>
            <a:off x="0" y="329125"/>
            <a:ext cx="69300" cy="44853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7" name="Google Shape;137;p60"/>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p:cSld name="BLANK_1_1">
    <p:spTree>
      <p:nvGrpSpPr>
        <p:cNvPr id="138" name="Shape 138"/>
        <p:cNvGrpSpPr/>
        <p:nvPr/>
      </p:nvGrpSpPr>
      <p:grpSpPr>
        <a:xfrm>
          <a:off x="0" y="0"/>
          <a:ext cx="0" cy="0"/>
          <a:chOff x="0" y="0"/>
          <a:chExt cx="0" cy="0"/>
        </a:xfrm>
      </p:grpSpPr>
      <p:sp>
        <p:nvSpPr>
          <p:cNvPr id="139" name="Google Shape;139;p61"/>
          <p:cNvSpPr/>
          <p:nvPr/>
        </p:nvSpPr>
        <p:spPr>
          <a:xfrm>
            <a:off x="0" y="329125"/>
            <a:ext cx="69300" cy="753000"/>
          </a:xfrm>
          <a:prstGeom prst="rect">
            <a:avLst/>
          </a:prstGeom>
          <a:solidFill>
            <a:srgbClr val="F2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 name="Google Shape;140;p61"/>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p:cSld name="BLANK_1_1_1">
    <p:spTree>
      <p:nvGrpSpPr>
        <p:cNvPr id="141" name="Shape 141"/>
        <p:cNvGrpSpPr/>
        <p:nvPr/>
      </p:nvGrpSpPr>
      <p:grpSpPr>
        <a:xfrm>
          <a:off x="0" y="0"/>
          <a:ext cx="0" cy="0"/>
          <a:chOff x="0" y="0"/>
          <a:chExt cx="0" cy="0"/>
        </a:xfrm>
      </p:grpSpPr>
      <p:sp>
        <p:nvSpPr>
          <p:cNvPr id="142" name="Google Shape;142;p62"/>
          <p:cNvSpPr/>
          <p:nvPr/>
        </p:nvSpPr>
        <p:spPr>
          <a:xfrm>
            <a:off x="0" y="329125"/>
            <a:ext cx="69300" cy="753000"/>
          </a:xfrm>
          <a:prstGeom prst="rect">
            <a:avLst/>
          </a:prstGeom>
          <a:solidFill>
            <a:srgbClr val="34A85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 name="Google Shape;143;p62"/>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p:cSld name="BLANK_1_1_1_1">
    <p:spTree>
      <p:nvGrpSpPr>
        <p:cNvPr id="144" name="Shape 144"/>
        <p:cNvGrpSpPr/>
        <p:nvPr/>
      </p:nvGrpSpPr>
      <p:grpSpPr>
        <a:xfrm>
          <a:off x="0" y="0"/>
          <a:ext cx="0" cy="0"/>
          <a:chOff x="0" y="0"/>
          <a:chExt cx="0" cy="0"/>
        </a:xfrm>
      </p:grpSpPr>
      <p:sp>
        <p:nvSpPr>
          <p:cNvPr id="145" name="Google Shape;145;p63"/>
          <p:cNvSpPr/>
          <p:nvPr/>
        </p:nvSpPr>
        <p:spPr>
          <a:xfrm>
            <a:off x="0" y="329125"/>
            <a:ext cx="69300" cy="753000"/>
          </a:xfrm>
          <a:prstGeom prst="rect">
            <a:avLst/>
          </a:prstGeom>
          <a:solidFill>
            <a:srgbClr val="9AA0A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 name="Google Shape;146;p63"/>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47" name="Shape 147"/>
        <p:cNvGrpSpPr/>
        <p:nvPr/>
      </p:nvGrpSpPr>
      <p:grpSpPr>
        <a:xfrm>
          <a:off x="0" y="0"/>
          <a:ext cx="0" cy="0"/>
          <a:chOff x="0" y="0"/>
          <a:chExt cx="0" cy="0"/>
        </a:xfrm>
      </p:grpSpPr>
      <p:pic>
        <p:nvPicPr>
          <p:cNvPr id="148" name="Google Shape;148;p64"/>
          <p:cNvPicPr preferRelativeResize="0"/>
          <p:nvPr/>
        </p:nvPicPr>
        <p:blipFill rotWithShape="1">
          <a:blip r:embed="rId2">
            <a:alphaModFix/>
          </a:blip>
          <a:srcRect b="0" l="0" r="0" t="0"/>
          <a:stretch/>
        </p:blipFill>
        <p:spPr>
          <a:xfrm>
            <a:off x="8421700" y="4841325"/>
            <a:ext cx="464875" cy="156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slideLayout" Target="../slideLayouts/slideLayout36.xml"/><Relationship Id="rId20" Type="http://schemas.openxmlformats.org/officeDocument/2006/relationships/slideLayout" Target="../slideLayouts/slideLayout37.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1" name="Shape 81"/>
        <p:cNvGrpSpPr/>
        <p:nvPr/>
      </p:nvGrpSpPr>
      <p:grpSpPr>
        <a:xfrm>
          <a:off x="0" y="0"/>
          <a:ext cx="0" cy="0"/>
          <a:chOff x="0" y="0"/>
          <a:chExt cx="0" cy="0"/>
        </a:xfrm>
      </p:grpSpPr>
      <p:sp>
        <p:nvSpPr>
          <p:cNvPr id="82" name="Google Shape;8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3" name="Google Shape;83;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84" name="Google Shape;84;p28"/>
          <p:cNvPicPr preferRelativeResize="0"/>
          <p:nvPr/>
        </p:nvPicPr>
        <p:blipFill rotWithShape="1">
          <a:blip r:embed="rId1">
            <a:alphaModFix/>
          </a:blip>
          <a:srcRect b="0" l="0" r="0" t="0"/>
          <a:stretch/>
        </p:blipFill>
        <p:spPr>
          <a:xfrm>
            <a:off x="8421698" y="4841325"/>
            <a:ext cx="464876" cy="1529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285F4"/>
        </a:solidFill>
      </p:bgPr>
    </p:bg>
    <p:spTree>
      <p:nvGrpSpPr>
        <p:cNvPr id="152" name="Shape 152"/>
        <p:cNvGrpSpPr/>
        <p:nvPr/>
      </p:nvGrpSpPr>
      <p:grpSpPr>
        <a:xfrm>
          <a:off x="0" y="0"/>
          <a:ext cx="0" cy="0"/>
          <a:chOff x="0" y="0"/>
          <a:chExt cx="0" cy="0"/>
        </a:xfrm>
      </p:grpSpPr>
      <p:sp>
        <p:nvSpPr>
          <p:cNvPr id="153" name="Google Shape;153;p1"/>
          <p:cNvSpPr txBox="1"/>
          <p:nvPr/>
        </p:nvSpPr>
        <p:spPr>
          <a:xfrm>
            <a:off x="517675" y="1819738"/>
            <a:ext cx="4931100" cy="7389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FFFFFF"/>
                </a:solidFill>
                <a:latin typeface="Open Sans SemiBold"/>
                <a:ea typeface="Open Sans SemiBold"/>
                <a:cs typeface="Open Sans SemiBold"/>
                <a:sym typeface="Open Sans SemiBold"/>
              </a:rPr>
              <a:t>Air India Flight Booking: A Usability Redesign</a:t>
            </a:r>
            <a:endParaRPr b="0" i="0" sz="3600" u="none" cap="none" strike="noStrike">
              <a:solidFill>
                <a:srgbClr val="FFFFFF"/>
              </a:solidFill>
              <a:latin typeface="Open Sans SemiBold"/>
              <a:ea typeface="Open Sans SemiBold"/>
              <a:cs typeface="Open Sans SemiBold"/>
              <a:sym typeface="Open Sans SemiBold"/>
            </a:endParaRPr>
          </a:p>
        </p:txBody>
      </p:sp>
      <p:sp>
        <p:nvSpPr>
          <p:cNvPr id="154" name="Google Shape;154;p1"/>
          <p:cNvSpPr txBox="1"/>
          <p:nvPr/>
        </p:nvSpPr>
        <p:spPr>
          <a:xfrm>
            <a:off x="517675" y="2769663"/>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Arnav Lokhande</a:t>
            </a:r>
            <a:endParaRPr b="0" i="0" sz="2400" u="none" cap="none" strike="noStrike">
              <a:solidFill>
                <a:srgbClr val="FFFFFF"/>
              </a:solidFill>
              <a:latin typeface="Open Sans"/>
              <a:ea typeface="Open Sans"/>
              <a:cs typeface="Open Sans"/>
              <a:sym typeface="Open Sans"/>
            </a:endParaRPr>
          </a:p>
        </p:txBody>
      </p:sp>
      <p:cxnSp>
        <p:nvCxnSpPr>
          <p:cNvPr id="155" name="Google Shape;155;p1"/>
          <p:cNvCxnSpPr/>
          <p:nvPr/>
        </p:nvCxnSpPr>
        <p:spPr>
          <a:xfrm rot="10800000">
            <a:off x="517650" y="2670825"/>
            <a:ext cx="5808000" cy="0"/>
          </a:xfrm>
          <a:prstGeom prst="straightConnector1">
            <a:avLst/>
          </a:prstGeom>
          <a:noFill/>
          <a:ln cap="flat" cmpd="sng" w="19050">
            <a:solidFill>
              <a:srgbClr val="FFFFFF"/>
            </a:solidFill>
            <a:prstDash val="solid"/>
            <a:round/>
            <a:headEnd len="sm" w="sm" type="none"/>
            <a:tailEnd len="sm" w="sm" type="none"/>
          </a:ln>
        </p:spPr>
      </p:cxnSp>
      <p:pic>
        <p:nvPicPr>
          <p:cNvPr id="156" name="Google Shape;156;p1"/>
          <p:cNvPicPr preferRelativeResize="0"/>
          <p:nvPr/>
        </p:nvPicPr>
        <p:blipFill rotWithShape="1">
          <a:blip r:embed="rId3">
            <a:alphaModFix/>
          </a:blip>
          <a:srcRect b="0" l="0" r="0" t="0"/>
          <a:stretch/>
        </p:blipFill>
        <p:spPr>
          <a:xfrm>
            <a:off x="8421700" y="4841325"/>
            <a:ext cx="464875" cy="156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
          <p:cNvSpPr/>
          <p:nvPr/>
        </p:nvSpPr>
        <p:spPr>
          <a:xfrm>
            <a:off x="5517175" y="638725"/>
            <a:ext cx="3380400" cy="4101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1231075" y="1604200"/>
            <a:ext cx="40860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The product: </a:t>
            </a:r>
            <a:endParaRPr b="0" i="0" sz="1400" u="none" cap="none" strike="noStrike">
              <a:solidFill>
                <a:srgbClr val="4285F4"/>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A flight-booking experience designed for travellers who want to compare flights, understand fares, and complete a booking with minimal confusion. The project compares the Air India website with a streamlined Figma prototype.</a:t>
            </a:r>
            <a:endParaRPr b="1" i="0" sz="1200" u="none" cap="none" strike="noStrike">
              <a:solidFill>
                <a:srgbClr val="1967D2"/>
              </a:solidFill>
              <a:latin typeface="Open Sans"/>
              <a:ea typeface="Open Sans"/>
              <a:cs typeface="Open Sans"/>
              <a:sym typeface="Open Sans"/>
            </a:endParaRPr>
          </a:p>
        </p:txBody>
      </p:sp>
      <p:sp>
        <p:nvSpPr>
          <p:cNvPr id="163" name="Google Shape;163;p2"/>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64" name="Google Shape;164;p2"/>
          <p:cNvSpPr/>
          <p:nvPr/>
        </p:nvSpPr>
        <p:spPr>
          <a:xfrm>
            <a:off x="517675" y="16042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
          <p:cNvSpPr txBox="1"/>
          <p:nvPr/>
        </p:nvSpPr>
        <p:spPr>
          <a:xfrm>
            <a:off x="1231075" y="317298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4285F4"/>
                </a:solidFill>
                <a:latin typeface="Open Sans SemiBold"/>
                <a:ea typeface="Open Sans SemiBold"/>
                <a:cs typeface="Open Sans SemiBold"/>
                <a:sym typeface="Open Sans SemiBold"/>
              </a:rPr>
              <a:t>Project duration:</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July 2026 – October 2026</a:t>
            </a:r>
            <a:endParaRPr b="1" i="0" sz="1200" u="none" cap="none" strike="noStrike">
              <a:solidFill>
                <a:srgbClr val="4285F4"/>
              </a:solidFill>
              <a:latin typeface="Open Sans"/>
              <a:ea typeface="Open Sans"/>
              <a:cs typeface="Open Sans"/>
              <a:sym typeface="Open Sans"/>
            </a:endParaRPr>
          </a:p>
        </p:txBody>
      </p:sp>
      <p:sp>
        <p:nvSpPr>
          <p:cNvPr id="166" name="Google Shape;166;p2"/>
          <p:cNvSpPr/>
          <p:nvPr/>
        </p:nvSpPr>
        <p:spPr>
          <a:xfrm>
            <a:off x="517675" y="3172985"/>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
          <p:cNvSpPr/>
          <p:nvPr/>
        </p:nvSpPr>
        <p:spPr>
          <a:xfrm>
            <a:off x="643388" y="3299236"/>
            <a:ext cx="261874" cy="260801"/>
          </a:xfrm>
          <a:custGeom>
            <a:rect b="b" l="l" r="r" t="t"/>
            <a:pathLst>
              <a:path extrusionOk="0" h="1045" w="1048">
                <a:moveTo>
                  <a:pt x="522" y="0"/>
                </a:moveTo>
                <a:cubicBezTo>
                  <a:pt x="234" y="0"/>
                  <a:pt x="0" y="234"/>
                  <a:pt x="0" y="522"/>
                </a:cubicBezTo>
                <a:cubicBezTo>
                  <a:pt x="0" y="810"/>
                  <a:pt x="234" y="1044"/>
                  <a:pt x="522" y="1044"/>
                </a:cubicBezTo>
                <a:cubicBezTo>
                  <a:pt x="810" y="1044"/>
                  <a:pt x="1044" y="810"/>
                  <a:pt x="1044" y="522"/>
                </a:cubicBezTo>
                <a:cubicBezTo>
                  <a:pt x="1047" y="234"/>
                  <a:pt x="812" y="0"/>
                  <a:pt x="522" y="0"/>
                </a:cubicBezTo>
                <a:close/>
                <a:moveTo>
                  <a:pt x="525" y="940"/>
                </a:moveTo>
                <a:cubicBezTo>
                  <a:pt x="293" y="940"/>
                  <a:pt x="107" y="754"/>
                  <a:pt x="107" y="522"/>
                </a:cubicBezTo>
                <a:cubicBezTo>
                  <a:pt x="107" y="291"/>
                  <a:pt x="293" y="104"/>
                  <a:pt x="525" y="104"/>
                </a:cubicBezTo>
                <a:cubicBezTo>
                  <a:pt x="756" y="104"/>
                  <a:pt x="942" y="290"/>
                  <a:pt x="942" y="522"/>
                </a:cubicBezTo>
                <a:cubicBezTo>
                  <a:pt x="942" y="753"/>
                  <a:pt x="753" y="940"/>
                  <a:pt x="525" y="940"/>
                </a:cubicBezTo>
                <a:close/>
                <a:moveTo>
                  <a:pt x="471" y="259"/>
                </a:moveTo>
                <a:lnTo>
                  <a:pt x="471" y="573"/>
                </a:lnTo>
                <a:lnTo>
                  <a:pt x="745" y="736"/>
                </a:lnTo>
                <a:lnTo>
                  <a:pt x="784" y="671"/>
                </a:lnTo>
                <a:lnTo>
                  <a:pt x="550" y="533"/>
                </a:lnTo>
                <a:lnTo>
                  <a:pt x="550" y="259"/>
                </a:lnTo>
                <a:lnTo>
                  <a:pt x="471" y="25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2"/>
          <p:cNvSpPr/>
          <p:nvPr/>
        </p:nvSpPr>
        <p:spPr>
          <a:xfrm>
            <a:off x="610514" y="1752262"/>
            <a:ext cx="327623" cy="217176"/>
          </a:xfrm>
          <a:custGeom>
            <a:rect b="b" l="l" r="r" t="t"/>
            <a:pathLst>
              <a:path extrusionOk="0" h="765" w="1149">
                <a:moveTo>
                  <a:pt x="191" y="96"/>
                </a:moveTo>
                <a:lnTo>
                  <a:pt x="1052" y="96"/>
                </a:lnTo>
                <a:lnTo>
                  <a:pt x="1052" y="0"/>
                </a:lnTo>
                <a:lnTo>
                  <a:pt x="191" y="0"/>
                </a:lnTo>
                <a:cubicBezTo>
                  <a:pt x="138" y="0"/>
                  <a:pt x="95" y="42"/>
                  <a:pt x="95" y="96"/>
                </a:cubicBezTo>
                <a:lnTo>
                  <a:pt x="95" y="621"/>
                </a:lnTo>
                <a:lnTo>
                  <a:pt x="0" y="621"/>
                </a:lnTo>
                <a:lnTo>
                  <a:pt x="0" y="764"/>
                </a:lnTo>
                <a:lnTo>
                  <a:pt x="668" y="764"/>
                </a:lnTo>
                <a:lnTo>
                  <a:pt x="668" y="621"/>
                </a:lnTo>
                <a:lnTo>
                  <a:pt x="191" y="621"/>
                </a:lnTo>
                <a:lnTo>
                  <a:pt x="191" y="96"/>
                </a:lnTo>
                <a:close/>
                <a:moveTo>
                  <a:pt x="1100" y="189"/>
                </a:moveTo>
                <a:lnTo>
                  <a:pt x="812" y="189"/>
                </a:lnTo>
                <a:cubicBezTo>
                  <a:pt x="787" y="189"/>
                  <a:pt x="764" y="211"/>
                  <a:pt x="764" y="237"/>
                </a:cubicBezTo>
                <a:lnTo>
                  <a:pt x="764" y="714"/>
                </a:lnTo>
                <a:cubicBezTo>
                  <a:pt x="764" y="739"/>
                  <a:pt x="787" y="762"/>
                  <a:pt x="812" y="762"/>
                </a:cubicBezTo>
                <a:lnTo>
                  <a:pt x="1100" y="762"/>
                </a:lnTo>
                <a:cubicBezTo>
                  <a:pt x="1126" y="762"/>
                  <a:pt x="1148" y="739"/>
                  <a:pt x="1148" y="714"/>
                </a:cubicBezTo>
                <a:lnTo>
                  <a:pt x="1148" y="237"/>
                </a:lnTo>
                <a:cubicBezTo>
                  <a:pt x="1145" y="211"/>
                  <a:pt x="1126" y="189"/>
                  <a:pt x="1100" y="189"/>
                </a:cubicBezTo>
                <a:close/>
                <a:moveTo>
                  <a:pt x="1052" y="621"/>
                </a:moveTo>
                <a:lnTo>
                  <a:pt x="860" y="621"/>
                </a:lnTo>
                <a:lnTo>
                  <a:pt x="860" y="285"/>
                </a:lnTo>
                <a:lnTo>
                  <a:pt x="1052" y="285"/>
                </a:lnTo>
                <a:lnTo>
                  <a:pt x="1052" y="62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2"/>
          <p:cNvSpPr txBox="1"/>
          <p:nvPr/>
        </p:nvSpPr>
        <p:spPr>
          <a:xfrm>
            <a:off x="6301825" y="2412325"/>
            <a:ext cx="18111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Add 2–3 screenshots of the final Figma prototype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
          <p:cNvSpPr txBox="1"/>
          <p:nvPr/>
        </p:nvSpPr>
        <p:spPr>
          <a:xfrm>
            <a:off x="517675" y="223797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4285F4"/>
                </a:solidFill>
                <a:latin typeface="Open Sans SemiBold"/>
                <a:ea typeface="Open Sans SemiBold"/>
                <a:cs typeface="Open Sans SemiBold"/>
                <a:sym typeface="Open Sans SemiBold"/>
              </a:rPr>
              <a:t>The problem: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The original Air India booking flow can feel crowded because promotional messages, upgrade prompts, and fare details compete for attention. Users may struggle to identify the next step while comparing options.</a:t>
            </a:r>
            <a:endParaRPr b="1" i="0" sz="1200" u="none" cap="none" strike="noStrike">
              <a:solidFill>
                <a:srgbClr val="4285F4"/>
              </a:solidFill>
              <a:latin typeface="Open Sans"/>
              <a:ea typeface="Open Sans"/>
              <a:cs typeface="Open Sans"/>
              <a:sym typeface="Open Sans"/>
            </a:endParaRPr>
          </a:p>
        </p:txBody>
      </p:sp>
      <p:sp>
        <p:nvSpPr>
          <p:cNvPr id="175" name="Google Shape;175;p3"/>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76" name="Google Shape;176;p3"/>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
          <p:cNvSpPr txBox="1"/>
          <p:nvPr/>
        </p:nvSpPr>
        <p:spPr>
          <a:xfrm>
            <a:off x="4572000" y="223797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The goal: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Create a cleaner flight-booking flow that helps users scan results, compare fare options, and move confidently from flight selection to booking confirmation.</a:t>
            </a:r>
            <a:endParaRPr b="1" i="0" sz="1200" u="none" cap="none" strike="noStrike">
              <a:solidFill>
                <a:srgbClr val="4285F4"/>
              </a:solidFill>
              <a:latin typeface="Open Sans"/>
              <a:ea typeface="Open Sans"/>
              <a:cs typeface="Open Sans"/>
              <a:sym typeface="Open Sans"/>
            </a:endParaRPr>
          </a:p>
        </p:txBody>
      </p:sp>
      <p:sp>
        <p:nvSpPr>
          <p:cNvPr id="178" name="Google Shape;178;p3"/>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3"/>
          <p:cNvSpPr/>
          <p:nvPr/>
        </p:nvSpPr>
        <p:spPr>
          <a:xfrm>
            <a:off x="4684213" y="1653525"/>
            <a:ext cx="288875" cy="274249"/>
          </a:xfrm>
          <a:custGeom>
            <a:rect b="b" l="l" r="r" t="t"/>
            <a:pathLst>
              <a:path extrusionOk="0" h="993" w="1045">
                <a:moveTo>
                  <a:pt x="522" y="798"/>
                </a:moveTo>
                <a:lnTo>
                  <a:pt x="844" y="992"/>
                </a:lnTo>
                <a:lnTo>
                  <a:pt x="759" y="626"/>
                </a:lnTo>
                <a:lnTo>
                  <a:pt x="1044" y="378"/>
                </a:lnTo>
                <a:lnTo>
                  <a:pt x="669" y="347"/>
                </a:lnTo>
                <a:lnTo>
                  <a:pt x="522" y="0"/>
                </a:lnTo>
                <a:lnTo>
                  <a:pt x="375" y="347"/>
                </a:lnTo>
                <a:lnTo>
                  <a:pt x="0" y="378"/>
                </a:lnTo>
                <a:lnTo>
                  <a:pt x="285" y="626"/>
                </a:lnTo>
                <a:lnTo>
                  <a:pt x="200" y="992"/>
                </a:lnTo>
                <a:lnTo>
                  <a:pt x="522" y="798"/>
                </a:lnTo>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3"/>
          <p:cNvSpPr/>
          <p:nvPr/>
        </p:nvSpPr>
        <p:spPr>
          <a:xfrm>
            <a:off x="640475" y="1656801"/>
            <a:ext cx="267700" cy="267700"/>
          </a:xfrm>
          <a:custGeom>
            <a:rect b="b" l="l" r="r" t="t"/>
            <a:pathLst>
              <a:path extrusionOk="0" h="209550" w="209550">
                <a:moveTo>
                  <a:pt x="115315" y="52353"/>
                </a:moveTo>
                <a:lnTo>
                  <a:pt x="115315" y="115315"/>
                </a:lnTo>
                <a:lnTo>
                  <a:pt x="94235" y="115315"/>
                </a:lnTo>
                <a:lnTo>
                  <a:pt x="94235" y="52353"/>
                </a:lnTo>
                <a:close/>
                <a:moveTo>
                  <a:pt x="115315" y="136256"/>
                </a:moveTo>
                <a:lnTo>
                  <a:pt x="115315" y="157197"/>
                </a:lnTo>
                <a:lnTo>
                  <a:pt x="94235" y="157197"/>
                </a:lnTo>
                <a:lnTo>
                  <a:pt x="94235" y="136256"/>
                </a:lnTo>
                <a:close/>
                <a:moveTo>
                  <a:pt x="104705" y="0"/>
                </a:moveTo>
                <a:lnTo>
                  <a:pt x="99400" y="140"/>
                </a:lnTo>
                <a:lnTo>
                  <a:pt x="94095" y="558"/>
                </a:lnTo>
                <a:lnTo>
                  <a:pt x="88790" y="1256"/>
                </a:lnTo>
                <a:lnTo>
                  <a:pt x="83625" y="2094"/>
                </a:lnTo>
                <a:lnTo>
                  <a:pt x="78599" y="3351"/>
                </a:lnTo>
                <a:lnTo>
                  <a:pt x="73573" y="4747"/>
                </a:lnTo>
                <a:lnTo>
                  <a:pt x="68687" y="6422"/>
                </a:lnTo>
                <a:lnTo>
                  <a:pt x="63940" y="8237"/>
                </a:lnTo>
                <a:lnTo>
                  <a:pt x="59333" y="10331"/>
                </a:lnTo>
                <a:lnTo>
                  <a:pt x="54866" y="12704"/>
                </a:lnTo>
                <a:lnTo>
                  <a:pt x="50398" y="15217"/>
                </a:lnTo>
                <a:lnTo>
                  <a:pt x="46210" y="17870"/>
                </a:lnTo>
                <a:lnTo>
                  <a:pt x="42022" y="20801"/>
                </a:lnTo>
                <a:lnTo>
                  <a:pt x="38113" y="23873"/>
                </a:lnTo>
                <a:lnTo>
                  <a:pt x="34343" y="27223"/>
                </a:lnTo>
                <a:lnTo>
                  <a:pt x="30714" y="30714"/>
                </a:lnTo>
                <a:lnTo>
                  <a:pt x="27223" y="34343"/>
                </a:lnTo>
                <a:lnTo>
                  <a:pt x="23873" y="38113"/>
                </a:lnTo>
                <a:lnTo>
                  <a:pt x="20801" y="42161"/>
                </a:lnTo>
                <a:lnTo>
                  <a:pt x="17870" y="46210"/>
                </a:lnTo>
                <a:lnTo>
                  <a:pt x="15217" y="50398"/>
                </a:lnTo>
                <a:lnTo>
                  <a:pt x="12704" y="54866"/>
                </a:lnTo>
                <a:lnTo>
                  <a:pt x="10331" y="59333"/>
                </a:lnTo>
                <a:lnTo>
                  <a:pt x="8237" y="63940"/>
                </a:lnTo>
                <a:lnTo>
                  <a:pt x="6282" y="68826"/>
                </a:lnTo>
                <a:lnTo>
                  <a:pt x="4747" y="73573"/>
                </a:lnTo>
                <a:lnTo>
                  <a:pt x="3351" y="78599"/>
                </a:lnTo>
                <a:lnTo>
                  <a:pt x="2094" y="83625"/>
                </a:lnTo>
                <a:lnTo>
                  <a:pt x="1256" y="88790"/>
                </a:lnTo>
                <a:lnTo>
                  <a:pt x="558" y="94095"/>
                </a:lnTo>
                <a:lnTo>
                  <a:pt x="140" y="99400"/>
                </a:lnTo>
                <a:lnTo>
                  <a:pt x="0" y="104845"/>
                </a:lnTo>
                <a:lnTo>
                  <a:pt x="140" y="110150"/>
                </a:lnTo>
                <a:lnTo>
                  <a:pt x="558" y="115455"/>
                </a:lnTo>
                <a:lnTo>
                  <a:pt x="1256" y="120760"/>
                </a:lnTo>
                <a:lnTo>
                  <a:pt x="2094" y="125925"/>
                </a:lnTo>
                <a:lnTo>
                  <a:pt x="3351" y="130951"/>
                </a:lnTo>
                <a:lnTo>
                  <a:pt x="4747" y="135977"/>
                </a:lnTo>
                <a:lnTo>
                  <a:pt x="6282" y="140863"/>
                </a:lnTo>
                <a:lnTo>
                  <a:pt x="8237" y="145610"/>
                </a:lnTo>
                <a:lnTo>
                  <a:pt x="10331" y="150217"/>
                </a:lnTo>
                <a:lnTo>
                  <a:pt x="12704" y="154684"/>
                </a:lnTo>
                <a:lnTo>
                  <a:pt x="15217" y="159152"/>
                </a:lnTo>
                <a:lnTo>
                  <a:pt x="17870" y="163340"/>
                </a:lnTo>
                <a:lnTo>
                  <a:pt x="20801" y="167528"/>
                </a:lnTo>
                <a:lnTo>
                  <a:pt x="23873" y="171437"/>
                </a:lnTo>
                <a:lnTo>
                  <a:pt x="27223" y="175207"/>
                </a:lnTo>
                <a:lnTo>
                  <a:pt x="30714" y="178836"/>
                </a:lnTo>
                <a:lnTo>
                  <a:pt x="34343" y="182327"/>
                </a:lnTo>
                <a:lnTo>
                  <a:pt x="38113" y="185677"/>
                </a:lnTo>
                <a:lnTo>
                  <a:pt x="42022" y="188749"/>
                </a:lnTo>
                <a:lnTo>
                  <a:pt x="46210" y="191680"/>
                </a:lnTo>
                <a:lnTo>
                  <a:pt x="50398" y="194333"/>
                </a:lnTo>
                <a:lnTo>
                  <a:pt x="54866" y="196846"/>
                </a:lnTo>
                <a:lnTo>
                  <a:pt x="59333" y="199219"/>
                </a:lnTo>
                <a:lnTo>
                  <a:pt x="63940" y="201313"/>
                </a:lnTo>
                <a:lnTo>
                  <a:pt x="68687" y="203268"/>
                </a:lnTo>
                <a:lnTo>
                  <a:pt x="73573" y="204803"/>
                </a:lnTo>
                <a:lnTo>
                  <a:pt x="78599" y="206199"/>
                </a:lnTo>
                <a:lnTo>
                  <a:pt x="83625" y="207456"/>
                </a:lnTo>
                <a:lnTo>
                  <a:pt x="88790" y="208294"/>
                </a:lnTo>
                <a:lnTo>
                  <a:pt x="94095" y="208992"/>
                </a:lnTo>
                <a:lnTo>
                  <a:pt x="99400" y="209410"/>
                </a:lnTo>
                <a:lnTo>
                  <a:pt x="104705" y="209550"/>
                </a:lnTo>
                <a:lnTo>
                  <a:pt x="110150" y="209410"/>
                </a:lnTo>
                <a:lnTo>
                  <a:pt x="115455" y="208992"/>
                </a:lnTo>
                <a:lnTo>
                  <a:pt x="120760" y="208294"/>
                </a:lnTo>
                <a:lnTo>
                  <a:pt x="125925" y="207456"/>
                </a:lnTo>
                <a:lnTo>
                  <a:pt x="130951" y="206199"/>
                </a:lnTo>
                <a:lnTo>
                  <a:pt x="135977" y="204803"/>
                </a:lnTo>
                <a:lnTo>
                  <a:pt x="140724" y="203268"/>
                </a:lnTo>
                <a:lnTo>
                  <a:pt x="145610" y="201313"/>
                </a:lnTo>
                <a:lnTo>
                  <a:pt x="150217" y="199219"/>
                </a:lnTo>
                <a:lnTo>
                  <a:pt x="154684" y="196846"/>
                </a:lnTo>
                <a:lnTo>
                  <a:pt x="159152" y="194333"/>
                </a:lnTo>
                <a:lnTo>
                  <a:pt x="163340" y="191680"/>
                </a:lnTo>
                <a:lnTo>
                  <a:pt x="167389" y="188749"/>
                </a:lnTo>
                <a:lnTo>
                  <a:pt x="171437" y="185677"/>
                </a:lnTo>
                <a:lnTo>
                  <a:pt x="175207" y="182327"/>
                </a:lnTo>
                <a:lnTo>
                  <a:pt x="178836" y="178836"/>
                </a:lnTo>
                <a:lnTo>
                  <a:pt x="182327" y="175207"/>
                </a:lnTo>
                <a:lnTo>
                  <a:pt x="185677" y="171437"/>
                </a:lnTo>
                <a:lnTo>
                  <a:pt x="188749" y="167528"/>
                </a:lnTo>
                <a:lnTo>
                  <a:pt x="191680" y="163340"/>
                </a:lnTo>
                <a:lnTo>
                  <a:pt x="194333" y="159152"/>
                </a:lnTo>
                <a:lnTo>
                  <a:pt x="196846" y="154684"/>
                </a:lnTo>
                <a:lnTo>
                  <a:pt x="199219" y="150217"/>
                </a:lnTo>
                <a:lnTo>
                  <a:pt x="201313" y="145610"/>
                </a:lnTo>
                <a:lnTo>
                  <a:pt x="203128" y="140863"/>
                </a:lnTo>
                <a:lnTo>
                  <a:pt x="204803" y="135977"/>
                </a:lnTo>
                <a:lnTo>
                  <a:pt x="206199" y="130951"/>
                </a:lnTo>
                <a:lnTo>
                  <a:pt x="207456" y="125925"/>
                </a:lnTo>
                <a:lnTo>
                  <a:pt x="208294" y="120760"/>
                </a:lnTo>
                <a:lnTo>
                  <a:pt x="208992" y="115455"/>
                </a:lnTo>
                <a:lnTo>
                  <a:pt x="209410" y="110150"/>
                </a:lnTo>
                <a:lnTo>
                  <a:pt x="209550" y="104845"/>
                </a:lnTo>
                <a:lnTo>
                  <a:pt x="209410" y="99400"/>
                </a:lnTo>
                <a:lnTo>
                  <a:pt x="208992" y="94095"/>
                </a:lnTo>
                <a:lnTo>
                  <a:pt x="208294" y="88790"/>
                </a:lnTo>
                <a:lnTo>
                  <a:pt x="207456" y="83625"/>
                </a:lnTo>
                <a:lnTo>
                  <a:pt x="206199" y="78599"/>
                </a:lnTo>
                <a:lnTo>
                  <a:pt x="204803" y="73573"/>
                </a:lnTo>
                <a:lnTo>
                  <a:pt x="203128" y="68826"/>
                </a:lnTo>
                <a:lnTo>
                  <a:pt x="201313" y="63940"/>
                </a:lnTo>
                <a:lnTo>
                  <a:pt x="199219" y="59333"/>
                </a:lnTo>
                <a:lnTo>
                  <a:pt x="196846" y="54866"/>
                </a:lnTo>
                <a:lnTo>
                  <a:pt x="194333" y="50398"/>
                </a:lnTo>
                <a:lnTo>
                  <a:pt x="191680" y="46210"/>
                </a:lnTo>
                <a:lnTo>
                  <a:pt x="188749" y="42161"/>
                </a:lnTo>
                <a:lnTo>
                  <a:pt x="185677" y="38113"/>
                </a:lnTo>
                <a:lnTo>
                  <a:pt x="182327" y="34343"/>
                </a:lnTo>
                <a:lnTo>
                  <a:pt x="178836" y="30714"/>
                </a:lnTo>
                <a:lnTo>
                  <a:pt x="175207" y="27223"/>
                </a:lnTo>
                <a:lnTo>
                  <a:pt x="171437" y="23873"/>
                </a:lnTo>
                <a:lnTo>
                  <a:pt x="167389" y="20801"/>
                </a:lnTo>
                <a:lnTo>
                  <a:pt x="163340" y="17870"/>
                </a:lnTo>
                <a:lnTo>
                  <a:pt x="159152" y="15217"/>
                </a:lnTo>
                <a:lnTo>
                  <a:pt x="154684" y="12704"/>
                </a:lnTo>
                <a:lnTo>
                  <a:pt x="150217" y="10331"/>
                </a:lnTo>
                <a:lnTo>
                  <a:pt x="145610" y="8237"/>
                </a:lnTo>
                <a:lnTo>
                  <a:pt x="140724" y="6422"/>
                </a:lnTo>
                <a:lnTo>
                  <a:pt x="135977" y="4747"/>
                </a:lnTo>
                <a:lnTo>
                  <a:pt x="130951" y="3351"/>
                </a:lnTo>
                <a:lnTo>
                  <a:pt x="125925" y="2094"/>
                </a:lnTo>
                <a:lnTo>
                  <a:pt x="120760" y="1256"/>
                </a:lnTo>
                <a:lnTo>
                  <a:pt x="115455" y="558"/>
                </a:lnTo>
                <a:lnTo>
                  <a:pt x="110150" y="140"/>
                </a:lnTo>
                <a:lnTo>
                  <a:pt x="10470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nvSpPr>
        <p:spPr>
          <a:xfrm>
            <a:off x="517675" y="223797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My role: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Individual UX designer and usability researcher.</a:t>
            </a:r>
            <a:endParaRPr b="1" i="0" sz="1200" u="none" cap="none" strike="noStrike">
              <a:solidFill>
                <a:srgbClr val="4285F4"/>
              </a:solidFill>
              <a:latin typeface="Open Sans"/>
              <a:ea typeface="Open Sans"/>
              <a:cs typeface="Open Sans"/>
              <a:sym typeface="Open Sans"/>
            </a:endParaRPr>
          </a:p>
        </p:txBody>
      </p:sp>
      <p:sp>
        <p:nvSpPr>
          <p:cNvPr id="186" name="Google Shape;186;p4"/>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Project overview</a:t>
            </a:r>
            <a:endParaRPr b="0" i="0" sz="2400" u="none" cap="none" strike="noStrike">
              <a:solidFill>
                <a:srgbClr val="5F6368"/>
              </a:solidFill>
              <a:latin typeface="Open Sans"/>
              <a:ea typeface="Open Sans"/>
              <a:cs typeface="Open Sans"/>
              <a:sym typeface="Open Sans"/>
            </a:endParaRPr>
          </a:p>
        </p:txBody>
      </p:sp>
      <p:sp>
        <p:nvSpPr>
          <p:cNvPr id="187" name="Google Shape;187;p4"/>
          <p:cNvSpPr/>
          <p:nvPr/>
        </p:nvSpPr>
        <p:spPr>
          <a:xfrm>
            <a:off x="517675"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
          <p:cNvSpPr txBox="1"/>
          <p:nvPr/>
        </p:nvSpPr>
        <p:spPr>
          <a:xfrm>
            <a:off x="4572000" y="2237975"/>
            <a:ext cx="3446100" cy="12468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4285F4"/>
                </a:solidFill>
                <a:latin typeface="Open Sans SemiBold"/>
                <a:ea typeface="Open Sans SemiBold"/>
                <a:cs typeface="Open Sans SemiBold"/>
                <a:sym typeface="Open Sans SemiBold"/>
              </a:rPr>
              <a:t>Responsibilities</a:t>
            </a:r>
            <a:r>
              <a:rPr b="0" i="0" lang="en" sz="1400" u="none" cap="none" strike="noStrike">
                <a:solidFill>
                  <a:srgbClr val="1967D2"/>
                </a:solidFill>
                <a:latin typeface="Open Sans SemiBold"/>
                <a:ea typeface="Open Sans SemiBold"/>
                <a:cs typeface="Open Sans SemiBold"/>
                <a:sym typeface="Open Sans SemiBold"/>
              </a:rPr>
              <a:t>: </a:t>
            </a:r>
            <a:endParaRPr b="0" i="0" sz="1400" u="none" cap="none" strike="noStrike">
              <a:solidFill>
                <a:srgbClr val="1967D2"/>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Competitive review, user-flow planning, wireframing, Figma prototyping, usability testing, think-aloud interviews, survey collection, thematic analysis, and recommendations.</a:t>
            </a:r>
            <a:endParaRPr b="1" i="0" sz="1200" u="none" cap="none" strike="noStrike">
              <a:solidFill>
                <a:srgbClr val="4285F4"/>
              </a:solidFill>
              <a:latin typeface="Open Sans"/>
              <a:ea typeface="Open Sans"/>
              <a:cs typeface="Open Sans"/>
              <a:sym typeface="Open Sans"/>
            </a:endParaRPr>
          </a:p>
        </p:txBody>
      </p:sp>
      <p:sp>
        <p:nvSpPr>
          <p:cNvPr id="189" name="Google Shape;189;p4"/>
          <p:cNvSpPr/>
          <p:nvPr/>
        </p:nvSpPr>
        <p:spPr>
          <a:xfrm>
            <a:off x="4572000" y="1534000"/>
            <a:ext cx="513300" cy="513300"/>
          </a:xfrm>
          <a:prstGeom prst="ellipse">
            <a:avLst/>
          </a:prstGeom>
          <a:solidFill>
            <a:srgbClr val="4285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
          <p:cNvSpPr/>
          <p:nvPr/>
        </p:nvSpPr>
        <p:spPr>
          <a:xfrm>
            <a:off x="645441" y="1662440"/>
            <a:ext cx="257757" cy="256421"/>
          </a:xfrm>
          <a:custGeom>
            <a:rect b="b" l="l" r="r" t="t"/>
            <a:pathLst>
              <a:path extrusionOk="0" h="847" w="851">
                <a:moveTo>
                  <a:pt x="423" y="423"/>
                </a:moveTo>
                <a:cubicBezTo>
                  <a:pt x="542" y="423"/>
                  <a:pt x="635" y="327"/>
                  <a:pt x="635" y="212"/>
                </a:cubicBezTo>
                <a:cubicBezTo>
                  <a:pt x="635" y="93"/>
                  <a:pt x="539" y="0"/>
                  <a:pt x="423" y="0"/>
                </a:cubicBezTo>
                <a:cubicBezTo>
                  <a:pt x="308" y="0"/>
                  <a:pt x="212" y="96"/>
                  <a:pt x="212" y="212"/>
                </a:cubicBezTo>
                <a:cubicBezTo>
                  <a:pt x="209" y="327"/>
                  <a:pt x="305" y="423"/>
                  <a:pt x="423" y="423"/>
                </a:cubicBezTo>
                <a:close/>
                <a:moveTo>
                  <a:pt x="423" y="528"/>
                </a:moveTo>
                <a:cubicBezTo>
                  <a:pt x="282" y="528"/>
                  <a:pt x="0" y="598"/>
                  <a:pt x="0" y="738"/>
                </a:cubicBezTo>
                <a:lnTo>
                  <a:pt x="0" y="846"/>
                </a:lnTo>
                <a:lnTo>
                  <a:pt x="850" y="846"/>
                </a:lnTo>
                <a:lnTo>
                  <a:pt x="850" y="738"/>
                </a:lnTo>
                <a:cubicBezTo>
                  <a:pt x="847" y="601"/>
                  <a:pt x="564" y="528"/>
                  <a:pt x="423" y="52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 name="Google Shape;191;p4"/>
          <p:cNvSpPr/>
          <p:nvPr/>
        </p:nvSpPr>
        <p:spPr>
          <a:xfrm>
            <a:off x="4685687" y="1710781"/>
            <a:ext cx="285935" cy="159748"/>
          </a:xfrm>
          <a:custGeom>
            <a:rect b="b" l="l" r="r" t="t"/>
            <a:pathLst>
              <a:path extrusionOk="0" h="526" w="941">
                <a:moveTo>
                  <a:pt x="0" y="316"/>
                </a:moveTo>
                <a:lnTo>
                  <a:pt x="105" y="316"/>
                </a:lnTo>
                <a:lnTo>
                  <a:pt x="105" y="212"/>
                </a:lnTo>
                <a:lnTo>
                  <a:pt x="0" y="212"/>
                </a:lnTo>
                <a:lnTo>
                  <a:pt x="0" y="316"/>
                </a:lnTo>
                <a:close/>
                <a:moveTo>
                  <a:pt x="0" y="525"/>
                </a:moveTo>
                <a:lnTo>
                  <a:pt x="105" y="525"/>
                </a:lnTo>
                <a:lnTo>
                  <a:pt x="105" y="421"/>
                </a:lnTo>
                <a:lnTo>
                  <a:pt x="0" y="421"/>
                </a:lnTo>
                <a:lnTo>
                  <a:pt x="0" y="525"/>
                </a:lnTo>
                <a:close/>
                <a:moveTo>
                  <a:pt x="0" y="105"/>
                </a:moveTo>
                <a:lnTo>
                  <a:pt x="105" y="105"/>
                </a:lnTo>
                <a:lnTo>
                  <a:pt x="105" y="0"/>
                </a:lnTo>
                <a:lnTo>
                  <a:pt x="0" y="0"/>
                </a:lnTo>
                <a:lnTo>
                  <a:pt x="0" y="105"/>
                </a:lnTo>
                <a:close/>
                <a:moveTo>
                  <a:pt x="209" y="316"/>
                </a:moveTo>
                <a:lnTo>
                  <a:pt x="940" y="316"/>
                </a:lnTo>
                <a:lnTo>
                  <a:pt x="940" y="212"/>
                </a:lnTo>
                <a:lnTo>
                  <a:pt x="209" y="212"/>
                </a:lnTo>
                <a:lnTo>
                  <a:pt x="209" y="316"/>
                </a:lnTo>
                <a:close/>
                <a:moveTo>
                  <a:pt x="209" y="525"/>
                </a:moveTo>
                <a:lnTo>
                  <a:pt x="940" y="525"/>
                </a:lnTo>
                <a:lnTo>
                  <a:pt x="940" y="421"/>
                </a:lnTo>
                <a:lnTo>
                  <a:pt x="209" y="421"/>
                </a:lnTo>
                <a:lnTo>
                  <a:pt x="209" y="525"/>
                </a:lnTo>
                <a:close/>
                <a:moveTo>
                  <a:pt x="209" y="0"/>
                </a:moveTo>
                <a:lnTo>
                  <a:pt x="209" y="105"/>
                </a:lnTo>
                <a:lnTo>
                  <a:pt x="940" y="105"/>
                </a:lnTo>
                <a:lnTo>
                  <a:pt x="940" y="0"/>
                </a:lnTo>
                <a:lnTo>
                  <a:pt x="209"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4335"/>
        </a:solidFill>
      </p:bgPr>
    </p:bg>
    <p:spTree>
      <p:nvGrpSpPr>
        <p:cNvPr id="195" name="Shape 195"/>
        <p:cNvGrpSpPr/>
        <p:nvPr/>
      </p:nvGrpSpPr>
      <p:grpSpPr>
        <a:xfrm>
          <a:off x="0" y="0"/>
          <a:ext cx="0" cy="0"/>
          <a:chOff x="0" y="0"/>
          <a:chExt cx="0" cy="0"/>
        </a:xfrm>
      </p:grpSpPr>
      <p:sp>
        <p:nvSpPr>
          <p:cNvPr id="196" name="Google Shape;196;p5"/>
          <p:cNvSpPr txBox="1"/>
          <p:nvPr/>
        </p:nvSpPr>
        <p:spPr>
          <a:xfrm>
            <a:off x="-46002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Understanding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user</a:t>
            </a:r>
            <a:endParaRPr b="0" i="0" sz="2400" u="none" cap="none" strike="noStrike">
              <a:solidFill>
                <a:srgbClr val="FFFFFF"/>
              </a:solidFill>
              <a:latin typeface="Open Sans"/>
              <a:ea typeface="Open Sans"/>
              <a:cs typeface="Open Sans"/>
              <a:sym typeface="Open Sans"/>
            </a:endParaRPr>
          </a:p>
        </p:txBody>
      </p:sp>
      <p:sp>
        <p:nvSpPr>
          <p:cNvPr id="197" name="Google Shape;197;p5"/>
          <p:cNvSpPr txBox="1"/>
          <p:nvPr/>
        </p:nvSpPr>
        <p:spPr>
          <a:xfrm>
            <a:off x="3712425" y="1886850"/>
            <a:ext cx="3946500" cy="1369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User research</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Personas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Problem statements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User journey maps</a:t>
            </a:r>
            <a:endParaRPr b="0" i="0" sz="1400" u="none" cap="none" strike="noStrike">
              <a:solidFill>
                <a:srgbClr val="FFFFFF"/>
              </a:solidFill>
              <a:latin typeface="Open Sans"/>
              <a:ea typeface="Open Sans"/>
              <a:cs typeface="Open Sans"/>
              <a:sym typeface="Open Sans"/>
            </a:endParaRPr>
          </a:p>
        </p:txBody>
      </p:sp>
      <p:cxnSp>
        <p:nvCxnSpPr>
          <p:cNvPr id="198" name="Google Shape;198;p5"/>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6"/>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research: summary</a:t>
            </a:r>
            <a:endParaRPr b="0" i="0" sz="2400" u="none" cap="none" strike="noStrike">
              <a:solidFill>
                <a:srgbClr val="5F6368"/>
              </a:solidFill>
              <a:latin typeface="Open Sans"/>
              <a:ea typeface="Open Sans"/>
              <a:cs typeface="Open Sans"/>
              <a:sym typeface="Open Sans"/>
            </a:endParaRPr>
          </a:p>
        </p:txBody>
      </p:sp>
      <p:sp>
        <p:nvSpPr>
          <p:cNvPr id="205" name="Google Shape;205;p6"/>
          <p:cNvSpPr txBox="1"/>
          <p:nvPr/>
        </p:nvSpPr>
        <p:spPr>
          <a:xfrm>
            <a:off x="919075" y="2461800"/>
            <a:ext cx="7136100" cy="10065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t>Five participants unfamiliar with the project tested the original Air India website and the redesigned Figma prototype using the same flight-booking task. Think-aloud feedback and interview transcripts were reviewed for recurring themes; participants also completed a UX survey. The email receipts did not preserve numeric ratings, so no averages are reported.</a:t>
            </a:r>
            <a:endParaRPr b="0" i="0" sz="1200" u="none" cap="none" strike="noStrike">
              <a:solidFill>
                <a:srgbClr val="5F6368"/>
              </a:solidFill>
              <a:latin typeface="Open Sans"/>
              <a:ea typeface="Open Sans"/>
              <a:cs typeface="Open Sans"/>
              <a:sym typeface="Open Sans"/>
            </a:endParaRPr>
          </a:p>
        </p:txBody>
      </p:sp>
      <p:sp>
        <p:nvSpPr>
          <p:cNvPr id="206" name="Google Shape;206;p6"/>
          <p:cNvSpPr/>
          <p:nvPr/>
        </p:nvSpPr>
        <p:spPr>
          <a:xfrm>
            <a:off x="4230475" y="1602212"/>
            <a:ext cx="513300" cy="513300"/>
          </a:xfrm>
          <a:prstGeom prst="ellipse">
            <a:avLst/>
          </a:prstGeom>
          <a:solidFill>
            <a:srgbClr val="EA43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4373201" y="1744926"/>
            <a:ext cx="227849" cy="227849"/>
          </a:xfrm>
          <a:custGeom>
            <a:rect b="b" l="l" r="r" t="t"/>
            <a:pathLst>
              <a:path extrusionOk="0" h="941" w="940">
                <a:moveTo>
                  <a:pt x="835" y="0"/>
                </a:moveTo>
                <a:lnTo>
                  <a:pt x="104" y="0"/>
                </a:lnTo>
                <a:cubicBezTo>
                  <a:pt x="47" y="0"/>
                  <a:pt x="0" y="48"/>
                  <a:pt x="0" y="105"/>
                </a:cubicBezTo>
                <a:lnTo>
                  <a:pt x="0" y="835"/>
                </a:lnTo>
                <a:cubicBezTo>
                  <a:pt x="0" y="892"/>
                  <a:pt x="47" y="940"/>
                  <a:pt x="104" y="940"/>
                </a:cubicBezTo>
                <a:lnTo>
                  <a:pt x="835" y="940"/>
                </a:lnTo>
                <a:cubicBezTo>
                  <a:pt x="891" y="940"/>
                  <a:pt x="939" y="892"/>
                  <a:pt x="939" y="835"/>
                </a:cubicBezTo>
                <a:lnTo>
                  <a:pt x="939" y="105"/>
                </a:lnTo>
                <a:cubicBezTo>
                  <a:pt x="939" y="48"/>
                  <a:pt x="891" y="0"/>
                  <a:pt x="835" y="0"/>
                </a:cubicBezTo>
                <a:close/>
                <a:moveTo>
                  <a:pt x="313" y="734"/>
                </a:moveTo>
                <a:lnTo>
                  <a:pt x="208" y="734"/>
                </a:lnTo>
                <a:lnTo>
                  <a:pt x="208" y="367"/>
                </a:lnTo>
                <a:lnTo>
                  <a:pt x="313" y="367"/>
                </a:lnTo>
                <a:lnTo>
                  <a:pt x="313" y="734"/>
                </a:lnTo>
                <a:close/>
                <a:moveTo>
                  <a:pt x="522" y="734"/>
                </a:moveTo>
                <a:lnTo>
                  <a:pt x="417" y="734"/>
                </a:lnTo>
                <a:lnTo>
                  <a:pt x="417" y="212"/>
                </a:lnTo>
                <a:lnTo>
                  <a:pt x="522" y="212"/>
                </a:lnTo>
                <a:lnTo>
                  <a:pt x="522" y="734"/>
                </a:lnTo>
                <a:close/>
                <a:moveTo>
                  <a:pt x="730" y="734"/>
                </a:moveTo>
                <a:lnTo>
                  <a:pt x="626" y="734"/>
                </a:lnTo>
                <a:lnTo>
                  <a:pt x="626" y="525"/>
                </a:lnTo>
                <a:lnTo>
                  <a:pt x="730" y="525"/>
                </a:lnTo>
                <a:lnTo>
                  <a:pt x="730" y="73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7"/>
          <p:cNvSpPr txBox="1"/>
          <p:nvPr/>
        </p:nvSpPr>
        <p:spPr>
          <a:xfrm>
            <a:off x="517675" y="5243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research: pain points</a:t>
            </a:r>
            <a:endParaRPr b="0" i="0" sz="2400" u="none" cap="none" strike="noStrike">
              <a:solidFill>
                <a:srgbClr val="5F6368"/>
              </a:solidFill>
              <a:latin typeface="Open Sans"/>
              <a:ea typeface="Open Sans"/>
              <a:cs typeface="Open Sans"/>
              <a:sym typeface="Open Sans"/>
            </a:endParaRPr>
          </a:p>
        </p:txBody>
      </p:sp>
      <p:sp>
        <p:nvSpPr>
          <p:cNvPr id="213" name="Google Shape;213;p7"/>
          <p:cNvSpPr txBox="1"/>
          <p:nvPr/>
        </p:nvSpPr>
        <p:spPr>
          <a:xfrm>
            <a:off x="441463" y="2008850"/>
            <a:ext cx="1872600" cy="400200"/>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Information overload</a:t>
            </a:r>
            <a:endParaRPr b="0" i="0" sz="1400" u="none" cap="none" strike="noStrike">
              <a:solidFill>
                <a:srgbClr val="4285F4"/>
              </a:solidFill>
              <a:latin typeface="Open Sans SemiBold"/>
              <a:ea typeface="Open Sans SemiBold"/>
              <a:cs typeface="Open Sans SemiBold"/>
              <a:sym typeface="Open Sans SemiBold"/>
            </a:endParaRPr>
          </a:p>
        </p:txBody>
      </p:sp>
      <p:sp>
        <p:nvSpPr>
          <p:cNvPr id="214" name="Google Shape;214;p7"/>
          <p:cNvSpPr txBox="1"/>
          <p:nvPr/>
        </p:nvSpPr>
        <p:spPr>
          <a:xfrm>
            <a:off x="441475" y="2522475"/>
            <a:ext cx="1872600" cy="14316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Write one to two sentences reflecting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on the pain point listed above and how it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will guide designs moving forward.</a:t>
            </a:r>
            <a:endParaRPr b="0" i="0" sz="1200" u="none" cap="none" strike="noStrike">
              <a:solidFill>
                <a:srgbClr val="000000"/>
              </a:solidFill>
              <a:latin typeface="Arial"/>
              <a:ea typeface="Arial"/>
              <a:cs typeface="Arial"/>
              <a:sym typeface="Arial"/>
            </a:endParaRPr>
          </a:p>
        </p:txBody>
      </p:sp>
      <p:sp>
        <p:nvSpPr>
          <p:cNvPr id="215" name="Google Shape;215;p7"/>
          <p:cNvSpPr txBox="1"/>
          <p:nvPr/>
        </p:nvSpPr>
        <p:spPr>
          <a:xfrm>
            <a:off x="2582713" y="2008850"/>
            <a:ext cx="1872600" cy="400200"/>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Information overload</a:t>
            </a:r>
            <a:endParaRPr b="0" i="0" sz="1400" u="none" cap="none" strike="noStrike">
              <a:solidFill>
                <a:srgbClr val="4285F4"/>
              </a:solidFill>
              <a:latin typeface="Open Sans SemiBold"/>
              <a:ea typeface="Open Sans SemiBold"/>
              <a:cs typeface="Open Sans SemiBold"/>
              <a:sym typeface="Open Sans SemiBold"/>
            </a:endParaRPr>
          </a:p>
        </p:txBody>
      </p:sp>
      <p:sp>
        <p:nvSpPr>
          <p:cNvPr id="216" name="Google Shape;216;p7"/>
          <p:cNvSpPr txBox="1"/>
          <p:nvPr/>
        </p:nvSpPr>
        <p:spPr>
          <a:xfrm>
            <a:off x="2582725" y="2522475"/>
            <a:ext cx="1872600" cy="14316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Write one to two sentences reflecting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on the pain point listed above and how it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will guide designs moving forward.</a:t>
            </a:r>
            <a:endParaRPr b="0" i="0" sz="1200" u="none" cap="none" strike="noStrike">
              <a:solidFill>
                <a:srgbClr val="000000"/>
              </a:solidFill>
              <a:latin typeface="Arial"/>
              <a:ea typeface="Arial"/>
              <a:cs typeface="Arial"/>
              <a:sym typeface="Arial"/>
            </a:endParaRPr>
          </a:p>
        </p:txBody>
      </p:sp>
      <p:sp>
        <p:nvSpPr>
          <p:cNvPr id="217" name="Google Shape;217;p7"/>
          <p:cNvSpPr txBox="1"/>
          <p:nvPr/>
        </p:nvSpPr>
        <p:spPr>
          <a:xfrm>
            <a:off x="4723969" y="2008850"/>
            <a:ext cx="1872600" cy="400200"/>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Information overload</a:t>
            </a:r>
            <a:endParaRPr b="0" i="0" sz="1400" u="none" cap="none" strike="noStrike">
              <a:solidFill>
                <a:srgbClr val="4285F4"/>
              </a:solidFill>
              <a:latin typeface="Open Sans SemiBold"/>
              <a:ea typeface="Open Sans SemiBold"/>
              <a:cs typeface="Open Sans SemiBold"/>
              <a:sym typeface="Open Sans SemiBold"/>
            </a:endParaRPr>
          </a:p>
        </p:txBody>
      </p:sp>
      <p:sp>
        <p:nvSpPr>
          <p:cNvPr id="218" name="Google Shape;218;p7"/>
          <p:cNvSpPr txBox="1"/>
          <p:nvPr/>
        </p:nvSpPr>
        <p:spPr>
          <a:xfrm>
            <a:off x="4723969" y="2522475"/>
            <a:ext cx="1872600" cy="14316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Write one to two sentences reflecting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on the pain point listed above and how it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will guide designs moving forward.</a:t>
            </a:r>
            <a:endParaRPr b="0" i="0" sz="1200" u="none" cap="none" strike="noStrike">
              <a:solidFill>
                <a:srgbClr val="000000"/>
              </a:solidFill>
              <a:latin typeface="Arial"/>
              <a:ea typeface="Arial"/>
              <a:cs typeface="Arial"/>
              <a:sym typeface="Arial"/>
            </a:endParaRPr>
          </a:p>
        </p:txBody>
      </p:sp>
      <p:sp>
        <p:nvSpPr>
          <p:cNvPr id="219" name="Google Shape;219;p7"/>
          <p:cNvSpPr txBox="1"/>
          <p:nvPr/>
        </p:nvSpPr>
        <p:spPr>
          <a:xfrm>
            <a:off x="6865219" y="2008850"/>
            <a:ext cx="1872600" cy="400200"/>
          </a:xfrm>
          <a:prstGeom prst="rect">
            <a:avLst/>
          </a:prstGeom>
          <a:noFill/>
          <a:ln>
            <a:noFill/>
          </a:ln>
        </p:spPr>
        <p:txBody>
          <a:bodyPr anchorCtr="0" anchor="t" bIns="91425" lIns="0" spcFirstLastPara="1" rIns="91425" wrap="square" tIns="91425">
            <a:spAutoFit/>
          </a:bodyPr>
          <a:lstStyle/>
          <a:p>
            <a:pPr indent="0" lvl="0" marL="0" marR="0" rtl="0" algn="ctr">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Information overload</a:t>
            </a:r>
            <a:endParaRPr b="0" i="0" sz="1400" u="none" cap="none" strike="noStrike">
              <a:solidFill>
                <a:srgbClr val="4285F4"/>
              </a:solidFill>
              <a:latin typeface="Open Sans SemiBold"/>
              <a:ea typeface="Open Sans SemiBold"/>
              <a:cs typeface="Open Sans SemiBold"/>
              <a:sym typeface="Open Sans SemiBold"/>
            </a:endParaRPr>
          </a:p>
        </p:txBody>
      </p:sp>
      <p:sp>
        <p:nvSpPr>
          <p:cNvPr id="220" name="Google Shape;220;p7"/>
          <p:cNvSpPr txBox="1"/>
          <p:nvPr/>
        </p:nvSpPr>
        <p:spPr>
          <a:xfrm>
            <a:off x="6865219" y="2522475"/>
            <a:ext cx="1872600" cy="14316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Write one to two sentences reflecting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on the pain point listed above and how it </a:t>
            </a:r>
            <a:br>
              <a:rPr b="0" i="0" lang="en" sz="1200" u="none" cap="none" strike="noStrike">
                <a:solidFill>
                  <a:srgbClr val="5F6368"/>
                </a:solidFill>
                <a:latin typeface="Open Sans"/>
                <a:ea typeface="Open Sans"/>
                <a:cs typeface="Open Sans"/>
                <a:sym typeface="Open Sans"/>
              </a:rPr>
            </a:br>
            <a:r>
              <a:rPr b="0" i="0" lang="en" sz="1200" u="none" cap="none" strike="noStrike">
                <a:solidFill>
                  <a:srgbClr val="5F6368"/>
                </a:solidFill>
                <a:latin typeface="Open Sans"/>
                <a:ea typeface="Open Sans"/>
                <a:cs typeface="Open Sans"/>
                <a:sym typeface="Open Sans"/>
              </a:rPr>
              <a:t>will guide designs moving forward.</a:t>
            </a:r>
            <a:endParaRPr b="0" i="0" sz="1200" u="none" cap="none" strike="noStrike">
              <a:solidFill>
                <a:srgbClr val="000000"/>
              </a:solidFill>
              <a:latin typeface="Arial"/>
              <a:ea typeface="Arial"/>
              <a:cs typeface="Arial"/>
              <a:sym typeface="Arial"/>
            </a:endParaRPr>
          </a:p>
        </p:txBody>
      </p:sp>
      <p:sp>
        <p:nvSpPr>
          <p:cNvPr id="221" name="Google Shape;221;p7"/>
          <p:cNvSpPr/>
          <p:nvPr/>
        </p:nvSpPr>
        <p:spPr>
          <a:xfrm>
            <a:off x="112112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1</a:t>
            </a:r>
            <a:endParaRPr b="0" i="0" sz="2200" u="none" cap="none" strike="noStrike">
              <a:solidFill>
                <a:srgbClr val="FFFFFF"/>
              </a:solidFill>
              <a:latin typeface="Google Sans Medium"/>
              <a:ea typeface="Google Sans Medium"/>
              <a:cs typeface="Google Sans Medium"/>
              <a:sym typeface="Google Sans Medium"/>
            </a:endParaRPr>
          </a:p>
        </p:txBody>
      </p:sp>
      <p:sp>
        <p:nvSpPr>
          <p:cNvPr id="222" name="Google Shape;222;p7"/>
          <p:cNvSpPr/>
          <p:nvPr/>
        </p:nvSpPr>
        <p:spPr>
          <a:xfrm>
            <a:off x="326237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2</a:t>
            </a:r>
            <a:endParaRPr b="0" i="0" sz="2200" u="none" cap="none" strike="noStrike">
              <a:solidFill>
                <a:srgbClr val="FFFFFF"/>
              </a:solidFill>
              <a:latin typeface="Google Sans Medium"/>
              <a:ea typeface="Google Sans Medium"/>
              <a:cs typeface="Google Sans Medium"/>
              <a:sym typeface="Google Sans Medium"/>
            </a:endParaRPr>
          </a:p>
        </p:txBody>
      </p:sp>
      <p:sp>
        <p:nvSpPr>
          <p:cNvPr id="223" name="Google Shape;223;p7"/>
          <p:cNvSpPr/>
          <p:nvPr/>
        </p:nvSpPr>
        <p:spPr>
          <a:xfrm>
            <a:off x="540362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3</a:t>
            </a:r>
            <a:endParaRPr b="0" i="0" sz="2200" u="none" cap="none" strike="noStrike">
              <a:solidFill>
                <a:srgbClr val="FFFFFF"/>
              </a:solidFill>
              <a:latin typeface="Google Sans Medium"/>
              <a:ea typeface="Google Sans Medium"/>
              <a:cs typeface="Google Sans Medium"/>
              <a:sym typeface="Google Sans Medium"/>
            </a:endParaRPr>
          </a:p>
        </p:txBody>
      </p:sp>
      <p:sp>
        <p:nvSpPr>
          <p:cNvPr id="224" name="Google Shape;224;p7"/>
          <p:cNvSpPr/>
          <p:nvPr/>
        </p:nvSpPr>
        <p:spPr>
          <a:xfrm>
            <a:off x="7544875" y="1382121"/>
            <a:ext cx="513300" cy="513300"/>
          </a:xfrm>
          <a:prstGeom prst="ellipse">
            <a:avLst/>
          </a:prstGeom>
          <a:solidFill>
            <a:srgbClr val="EA433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4</a:t>
            </a:r>
            <a:endParaRPr b="0" i="0" sz="2200" u="none" cap="none" strike="noStrik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nvSpPr>
        <p:spPr>
          <a:xfrm>
            <a:off x="517675" y="524350"/>
            <a:ext cx="61086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Persona: The Practical Traveller</a:t>
            </a:r>
            <a:endParaRPr b="1" i="0" sz="2400" u="none" cap="none" strike="noStrike">
              <a:solidFill>
                <a:srgbClr val="5F6368"/>
              </a:solidFill>
              <a:latin typeface="Open Sans"/>
              <a:ea typeface="Open Sans"/>
              <a:cs typeface="Open Sans"/>
              <a:sym typeface="Open Sans"/>
            </a:endParaRPr>
          </a:p>
        </p:txBody>
      </p:sp>
      <p:pic>
        <p:nvPicPr>
          <p:cNvPr id="230" name="Google Shape;230;p8"/>
          <p:cNvPicPr preferRelativeResize="0"/>
          <p:nvPr/>
        </p:nvPicPr>
        <p:blipFill rotWithShape="1">
          <a:blip r:embed="rId3">
            <a:alphaModFix/>
          </a:blip>
          <a:srcRect b="0" l="0" r="0" t="0"/>
          <a:stretch/>
        </p:blipFill>
        <p:spPr>
          <a:xfrm>
            <a:off x="3703201" y="1083375"/>
            <a:ext cx="5265248" cy="2976750"/>
          </a:xfrm>
          <a:prstGeom prst="rect">
            <a:avLst/>
          </a:prstGeom>
          <a:noFill/>
          <a:ln>
            <a:noFill/>
          </a:ln>
        </p:spPr>
      </p:pic>
      <p:sp>
        <p:nvSpPr>
          <p:cNvPr id="231" name="Google Shape;231;p8"/>
          <p:cNvSpPr txBox="1"/>
          <p:nvPr/>
        </p:nvSpPr>
        <p:spPr>
          <a:xfrm>
            <a:off x="517675" y="1674400"/>
            <a:ext cx="2184600" cy="2016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EA4335"/>
                </a:solidFill>
                <a:latin typeface="Open Sans SemiBold"/>
                <a:ea typeface="Open Sans SemiBold"/>
                <a:cs typeface="Open Sans SemiBold"/>
                <a:sym typeface="Open Sans SemiBold"/>
              </a:rPr>
              <a:t>Problem statement:</a:t>
            </a:r>
            <a:endParaRPr b="0" i="0" sz="1400" u="none" cap="none" strike="noStrike">
              <a:solidFill>
                <a:srgbClr val="EA4335"/>
              </a:solidFill>
              <a:latin typeface="Open Sans SemiBold"/>
              <a:ea typeface="Open Sans SemiBold"/>
              <a:cs typeface="Open Sans SemiBold"/>
              <a:sym typeface="Open Sans SemiBold"/>
            </a:endParaRPr>
          </a:p>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[User name] is a [user characteristics] </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who needs [user need] </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because [insight].</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9"/>
          <p:cNvSpPr/>
          <p:nvPr/>
        </p:nvSpPr>
        <p:spPr>
          <a:xfrm>
            <a:off x="4211875" y="524350"/>
            <a:ext cx="4682700" cy="4215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9"/>
          <p:cNvSpPr txBox="1"/>
          <p:nvPr/>
        </p:nvSpPr>
        <p:spPr>
          <a:xfrm>
            <a:off x="517675" y="524350"/>
            <a:ext cx="61086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User journey map</a:t>
            </a:r>
            <a:endParaRPr b="0" i="0" sz="2400" u="none" cap="none" strike="noStrike">
              <a:solidFill>
                <a:srgbClr val="5F6368"/>
              </a:solidFill>
              <a:latin typeface="Open Sans"/>
              <a:ea typeface="Open Sans"/>
              <a:cs typeface="Open Sans"/>
              <a:sym typeface="Open Sans"/>
            </a:endParaRPr>
          </a:p>
        </p:txBody>
      </p:sp>
      <p:sp>
        <p:nvSpPr>
          <p:cNvPr id="238" name="Google Shape;238;p9"/>
          <p:cNvSpPr txBox="1"/>
          <p:nvPr/>
        </p:nvSpPr>
        <p:spPr>
          <a:xfrm>
            <a:off x="6011725" y="2294700"/>
            <a:ext cx="1332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your user journey map image here.</a:t>
            </a:r>
            <a:endParaRPr b="0" i="0" sz="1200" u="none" cap="none" strike="noStrike">
              <a:solidFill>
                <a:srgbClr val="5F6368"/>
              </a:solidFill>
              <a:latin typeface="Open Sans"/>
              <a:ea typeface="Open Sans"/>
              <a:cs typeface="Open Sans"/>
              <a:sym typeface="Open Sans"/>
            </a:endParaRPr>
          </a:p>
        </p:txBody>
      </p:sp>
      <p:sp>
        <p:nvSpPr>
          <p:cNvPr id="239" name="Google Shape;239;p9"/>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9900"/>
        </a:solidFill>
      </p:bgPr>
    </p:bg>
    <p:spTree>
      <p:nvGrpSpPr>
        <p:cNvPr id="243" name="Shape 243"/>
        <p:cNvGrpSpPr/>
        <p:nvPr/>
      </p:nvGrpSpPr>
      <p:grpSpPr>
        <a:xfrm>
          <a:off x="0" y="0"/>
          <a:ext cx="0" cy="0"/>
          <a:chOff x="0" y="0"/>
          <a:chExt cx="0" cy="0"/>
        </a:xfrm>
      </p:grpSpPr>
      <p:sp>
        <p:nvSpPr>
          <p:cNvPr id="244" name="Google Shape;244;p10"/>
          <p:cNvSpPr txBox="1"/>
          <p:nvPr/>
        </p:nvSpPr>
        <p:spPr>
          <a:xfrm>
            <a:off x="3721275" y="1886850"/>
            <a:ext cx="6302100" cy="1369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Paper wireframes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Digital wireframes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Low-fidelity prototype</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Usability studies</a:t>
            </a:r>
            <a:endParaRPr b="0" i="0" sz="1400" u="none" cap="none" strike="noStrike">
              <a:solidFill>
                <a:srgbClr val="FFFFFF"/>
              </a:solidFill>
              <a:latin typeface="Open Sans"/>
              <a:ea typeface="Open Sans"/>
              <a:cs typeface="Open Sans"/>
              <a:sym typeface="Open Sans"/>
            </a:endParaRPr>
          </a:p>
        </p:txBody>
      </p:sp>
      <p:sp>
        <p:nvSpPr>
          <p:cNvPr id="245" name="Google Shape;245;p10"/>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chemeClr val="dk1"/>
              </a:buClr>
              <a:buSzPts val="1100"/>
              <a:buFont typeface="Arial"/>
              <a:buNone/>
            </a:pPr>
            <a:r>
              <a:rPr b="0" i="0" lang="en" sz="2400" u="none" cap="none" strike="noStrike">
                <a:solidFill>
                  <a:srgbClr val="FFFFFF"/>
                </a:solidFill>
                <a:latin typeface="Open Sans"/>
                <a:ea typeface="Open Sans"/>
                <a:cs typeface="Open Sans"/>
                <a:sym typeface="Open Sans"/>
              </a:rPr>
              <a:t>Starting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design</a:t>
            </a:r>
            <a:endParaRPr b="0" i="0" sz="2400" u="none" cap="none" strike="noStrike">
              <a:solidFill>
                <a:srgbClr val="FFFFFF"/>
              </a:solidFill>
              <a:latin typeface="Open Sans"/>
              <a:ea typeface="Open Sans"/>
              <a:cs typeface="Open Sans"/>
              <a:sym typeface="Open Sans"/>
            </a:endParaRPr>
          </a:p>
        </p:txBody>
      </p:sp>
      <p:cxnSp>
        <p:nvCxnSpPr>
          <p:cNvPr id="246" name="Google Shape;246;p10"/>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1"/>
          <p:cNvSpPr/>
          <p:nvPr/>
        </p:nvSpPr>
        <p:spPr>
          <a:xfrm>
            <a:off x="4211875" y="524350"/>
            <a:ext cx="4682700" cy="4215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1"/>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Paper wireframes </a:t>
            </a:r>
            <a:endParaRPr b="0" i="0" sz="2400" u="none" cap="none" strike="noStrike">
              <a:solidFill>
                <a:srgbClr val="5F6368"/>
              </a:solidFill>
              <a:latin typeface="Open Sans"/>
              <a:ea typeface="Open Sans"/>
              <a:cs typeface="Open Sans"/>
              <a:sym typeface="Open Sans"/>
            </a:endParaRPr>
          </a:p>
        </p:txBody>
      </p:sp>
      <p:sp>
        <p:nvSpPr>
          <p:cNvPr id="253" name="Google Shape;253;p11"/>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000000"/>
              </a:solidFill>
              <a:latin typeface="Arial"/>
              <a:ea typeface="Arial"/>
              <a:cs typeface="Arial"/>
              <a:sym typeface="Arial"/>
            </a:endParaRPr>
          </a:p>
        </p:txBody>
      </p:sp>
      <p:sp>
        <p:nvSpPr>
          <p:cNvPr id="254" name="Google Shape;254;p11"/>
          <p:cNvSpPr txBox="1"/>
          <p:nvPr/>
        </p:nvSpPr>
        <p:spPr>
          <a:xfrm>
            <a:off x="5830075" y="1833000"/>
            <a:ext cx="1695600" cy="1477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photos of your paper sketches and the selected refined version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2"/>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Digital wireframes </a:t>
            </a:r>
            <a:endParaRPr b="0" i="0" sz="2400" u="none" cap="none" strike="noStrike">
              <a:solidFill>
                <a:srgbClr val="5F6368"/>
              </a:solidFill>
              <a:latin typeface="Open Sans"/>
              <a:ea typeface="Open Sans"/>
              <a:cs typeface="Open Sans"/>
              <a:sym typeface="Open Sans"/>
            </a:endParaRPr>
          </a:p>
        </p:txBody>
      </p:sp>
      <p:sp>
        <p:nvSpPr>
          <p:cNvPr id="260" name="Google Shape;260;p12"/>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000000"/>
              </a:solidFill>
              <a:latin typeface="Arial"/>
              <a:ea typeface="Arial"/>
              <a:cs typeface="Arial"/>
              <a:sym typeface="Arial"/>
            </a:endParaRPr>
          </a:p>
        </p:txBody>
      </p:sp>
      <p:sp>
        <p:nvSpPr>
          <p:cNvPr id="261" name="Google Shape;261;p12"/>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2" name="Google Shape;262;p12"/>
          <p:cNvCxnSpPr/>
          <p:nvPr/>
        </p:nvCxnSpPr>
        <p:spPr>
          <a:xfrm>
            <a:off x="4565525" y="1608925"/>
            <a:ext cx="918900" cy="0"/>
          </a:xfrm>
          <a:prstGeom prst="straightConnector1">
            <a:avLst/>
          </a:prstGeom>
          <a:noFill/>
          <a:ln cap="flat" cmpd="sng" w="19050">
            <a:solidFill>
              <a:srgbClr val="FBBC04"/>
            </a:solidFill>
            <a:prstDash val="solid"/>
            <a:round/>
            <a:headEnd len="sm" w="sm" type="none"/>
            <a:tailEnd len="med" w="med" type="triangle"/>
          </a:ln>
        </p:spPr>
      </p:cxnSp>
      <p:sp>
        <p:nvSpPr>
          <p:cNvPr id="263" name="Google Shape;263;p12"/>
          <p:cNvSpPr txBox="1"/>
          <p:nvPr/>
        </p:nvSpPr>
        <p:spPr>
          <a:xfrm>
            <a:off x="3506850" y="1208725"/>
            <a:ext cx="1100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Keep the key decision visible and easy to scan; reduce cognitive load by grouping related information.</a:t>
            </a:r>
            <a:endParaRPr b="0" i="0" sz="1000" u="none" cap="none" strike="noStrike">
              <a:solidFill>
                <a:srgbClr val="5F6368"/>
              </a:solidFill>
              <a:latin typeface="Open Sans"/>
              <a:ea typeface="Open Sans"/>
              <a:cs typeface="Open Sans"/>
              <a:sym typeface="Open Sans"/>
            </a:endParaRPr>
          </a:p>
        </p:txBody>
      </p:sp>
      <p:cxnSp>
        <p:nvCxnSpPr>
          <p:cNvPr id="264" name="Google Shape;264;p12"/>
          <p:cNvCxnSpPr/>
          <p:nvPr/>
        </p:nvCxnSpPr>
        <p:spPr>
          <a:xfrm rot="10800000">
            <a:off x="7096000" y="2920200"/>
            <a:ext cx="918000" cy="0"/>
          </a:xfrm>
          <a:prstGeom prst="straightConnector1">
            <a:avLst/>
          </a:prstGeom>
          <a:noFill/>
          <a:ln cap="flat" cmpd="sng" w="19050">
            <a:solidFill>
              <a:srgbClr val="FBBC04"/>
            </a:solidFill>
            <a:prstDash val="solid"/>
            <a:round/>
            <a:headEnd len="sm" w="sm" type="none"/>
            <a:tailEnd len="med" w="med" type="triangle"/>
          </a:ln>
        </p:spPr>
      </p:cxnSp>
      <p:sp>
        <p:nvSpPr>
          <p:cNvPr id="265" name="Google Shape;265;p12"/>
          <p:cNvSpPr txBox="1"/>
          <p:nvPr/>
        </p:nvSpPr>
        <p:spPr>
          <a:xfrm>
            <a:off x="5363575" y="1833000"/>
            <a:ext cx="18924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a wireframe screenshot showing the flight-results layout and filters.</a:t>
            </a:r>
            <a:endParaRPr b="0" i="0" sz="1200" u="none" cap="none" strike="noStrike">
              <a:solidFill>
                <a:srgbClr val="5F6368"/>
              </a:solidFill>
              <a:latin typeface="Open Sans"/>
              <a:ea typeface="Open Sans"/>
              <a:cs typeface="Open Sans"/>
              <a:sym typeface="Open Sans"/>
            </a:endParaRPr>
          </a:p>
        </p:txBody>
      </p:sp>
      <p:sp>
        <p:nvSpPr>
          <p:cNvPr id="266" name="Google Shape;266;p12"/>
          <p:cNvSpPr txBox="1"/>
          <p:nvPr/>
        </p:nvSpPr>
        <p:spPr>
          <a:xfrm>
            <a:off x="8030375" y="2520000"/>
            <a:ext cx="1100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Keep the key decision visible and easy to scan; reduce cognitive load by grouping related information.</a:t>
            </a:r>
            <a:endParaRPr b="0" i="0" sz="1000" u="none" cap="none" strike="noStrike">
              <a:solidFill>
                <a:srgbClr val="5F6368"/>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3"/>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Digital wireframes </a:t>
            </a:r>
            <a:endParaRPr b="0" i="0" sz="2400" u="none" cap="none" strike="noStrike">
              <a:solidFill>
                <a:srgbClr val="5F6368"/>
              </a:solidFill>
              <a:latin typeface="Open Sans"/>
              <a:ea typeface="Open Sans"/>
              <a:cs typeface="Open Sans"/>
              <a:sym typeface="Open Sans"/>
            </a:endParaRPr>
          </a:p>
        </p:txBody>
      </p:sp>
      <p:sp>
        <p:nvSpPr>
          <p:cNvPr id="272" name="Google Shape;272;p13"/>
          <p:cNvSpPr txBox="1"/>
          <p:nvPr/>
        </p:nvSpPr>
        <p:spPr>
          <a:xfrm>
            <a:off x="517675" y="1522550"/>
            <a:ext cx="2421300" cy="7233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000000"/>
              </a:solidFill>
              <a:latin typeface="Arial"/>
              <a:ea typeface="Arial"/>
              <a:cs typeface="Arial"/>
              <a:sym typeface="Arial"/>
            </a:endParaRPr>
          </a:p>
        </p:txBody>
      </p:sp>
      <p:sp>
        <p:nvSpPr>
          <p:cNvPr id="273" name="Google Shape;273;p13"/>
          <p:cNvSpPr/>
          <p:nvPr/>
        </p:nvSpPr>
        <p:spPr>
          <a:xfrm>
            <a:off x="5092825" y="984600"/>
            <a:ext cx="2421300" cy="3958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4" name="Google Shape;274;p13"/>
          <p:cNvCxnSpPr/>
          <p:nvPr/>
        </p:nvCxnSpPr>
        <p:spPr>
          <a:xfrm>
            <a:off x="4565525" y="1608925"/>
            <a:ext cx="918900" cy="0"/>
          </a:xfrm>
          <a:prstGeom prst="straightConnector1">
            <a:avLst/>
          </a:prstGeom>
          <a:noFill/>
          <a:ln cap="flat" cmpd="sng" w="19050">
            <a:solidFill>
              <a:srgbClr val="FBBC04"/>
            </a:solidFill>
            <a:prstDash val="solid"/>
            <a:round/>
            <a:headEnd len="sm" w="sm" type="none"/>
            <a:tailEnd len="med" w="med" type="triangle"/>
          </a:ln>
        </p:spPr>
      </p:cxnSp>
      <p:sp>
        <p:nvSpPr>
          <p:cNvPr id="275" name="Google Shape;275;p13"/>
          <p:cNvSpPr txBox="1"/>
          <p:nvPr/>
        </p:nvSpPr>
        <p:spPr>
          <a:xfrm>
            <a:off x="3506850" y="1208725"/>
            <a:ext cx="1100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Keep the key decision visible and easy to scan; reduce cognitive load by grouping related information.</a:t>
            </a:r>
            <a:endParaRPr b="0" i="0" sz="1000" u="none" cap="none" strike="noStrike">
              <a:solidFill>
                <a:srgbClr val="5F6368"/>
              </a:solidFill>
              <a:latin typeface="Open Sans"/>
              <a:ea typeface="Open Sans"/>
              <a:cs typeface="Open Sans"/>
              <a:sym typeface="Open Sans"/>
            </a:endParaRPr>
          </a:p>
        </p:txBody>
      </p:sp>
      <p:cxnSp>
        <p:nvCxnSpPr>
          <p:cNvPr id="276" name="Google Shape;276;p13"/>
          <p:cNvCxnSpPr/>
          <p:nvPr/>
        </p:nvCxnSpPr>
        <p:spPr>
          <a:xfrm rot="10800000">
            <a:off x="7096000" y="2920200"/>
            <a:ext cx="918000" cy="0"/>
          </a:xfrm>
          <a:prstGeom prst="straightConnector1">
            <a:avLst/>
          </a:prstGeom>
          <a:noFill/>
          <a:ln cap="flat" cmpd="sng" w="19050">
            <a:solidFill>
              <a:srgbClr val="FBBC04"/>
            </a:solidFill>
            <a:prstDash val="solid"/>
            <a:round/>
            <a:headEnd len="sm" w="sm" type="none"/>
            <a:tailEnd len="med" w="med" type="triangle"/>
          </a:ln>
        </p:spPr>
      </p:cxnSp>
      <p:sp>
        <p:nvSpPr>
          <p:cNvPr id="277" name="Google Shape;277;p13"/>
          <p:cNvSpPr txBox="1"/>
          <p:nvPr/>
        </p:nvSpPr>
        <p:spPr>
          <a:xfrm>
            <a:off x="5363575" y="1833000"/>
            <a:ext cx="18924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a wireframe screenshot showing fare selection and the primary Continue action.</a:t>
            </a:r>
            <a:endParaRPr b="0" i="0" sz="1200" u="none" cap="none" strike="noStrike">
              <a:solidFill>
                <a:srgbClr val="5F6368"/>
              </a:solidFill>
              <a:latin typeface="Open Sans"/>
              <a:ea typeface="Open Sans"/>
              <a:cs typeface="Open Sans"/>
              <a:sym typeface="Open Sans"/>
            </a:endParaRPr>
          </a:p>
        </p:txBody>
      </p:sp>
      <p:sp>
        <p:nvSpPr>
          <p:cNvPr id="278" name="Google Shape;278;p13"/>
          <p:cNvSpPr txBox="1"/>
          <p:nvPr/>
        </p:nvSpPr>
        <p:spPr>
          <a:xfrm>
            <a:off x="8030375" y="2520000"/>
            <a:ext cx="11004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F6368"/>
                </a:solidFill>
                <a:latin typeface="Open Sans"/>
                <a:ea typeface="Open Sans"/>
                <a:cs typeface="Open Sans"/>
                <a:sym typeface="Open Sans"/>
              </a:rPr>
              <a:t>Keep the key decision visible and easy to scan; reduce cognitive load by grouping related information.</a:t>
            </a:r>
            <a:endParaRPr b="0" i="0" sz="1000" u="none" cap="none" strike="noStrike">
              <a:solidFill>
                <a:srgbClr val="5F6368"/>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p:nvPr/>
        </p:nvSpPr>
        <p:spPr>
          <a:xfrm>
            <a:off x="4211875" y="524350"/>
            <a:ext cx="4682700" cy="4215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4"/>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Low-fidelity prototype</a:t>
            </a:r>
            <a:endParaRPr b="0" i="0" sz="2400" u="none" cap="none" strike="noStrike">
              <a:solidFill>
                <a:srgbClr val="5F6368"/>
              </a:solidFill>
              <a:latin typeface="Open Sans"/>
              <a:ea typeface="Open Sans"/>
              <a:cs typeface="Open Sans"/>
              <a:sym typeface="Open Sans"/>
            </a:endParaRPr>
          </a:p>
        </p:txBody>
      </p:sp>
      <p:sp>
        <p:nvSpPr>
          <p:cNvPr id="285" name="Google Shape;285;p14"/>
          <p:cNvSpPr txBox="1"/>
          <p:nvPr/>
        </p:nvSpPr>
        <p:spPr>
          <a:xfrm>
            <a:off x="6011725" y="2110050"/>
            <a:ext cx="13323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a screenshot or GIF of the Figma prototype flow here.</a:t>
            </a:r>
            <a:endParaRPr b="0" i="0" sz="1200" u="none" cap="none" strike="noStrike">
              <a:solidFill>
                <a:srgbClr val="5F6368"/>
              </a:solidFill>
              <a:latin typeface="Open Sans"/>
              <a:ea typeface="Open Sans"/>
              <a:cs typeface="Open Sans"/>
              <a:sym typeface="Open Sans"/>
            </a:endParaRPr>
          </a:p>
        </p:txBody>
      </p:sp>
      <p:sp>
        <p:nvSpPr>
          <p:cNvPr id="286" name="Google Shape;286;p14"/>
          <p:cNvSpPr txBox="1"/>
          <p:nvPr/>
        </p:nvSpPr>
        <p:spPr>
          <a:xfrm>
            <a:off x="532875" y="1793800"/>
            <a:ext cx="2915400" cy="1046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[Link to low-fidelity prototype and brief description of the user flow]</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5"/>
          <p:cNvSpPr txBox="1"/>
          <p:nvPr/>
        </p:nvSpPr>
        <p:spPr>
          <a:xfrm>
            <a:off x="517675" y="448150"/>
            <a:ext cx="6155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Usability study: findings</a:t>
            </a:r>
            <a:endParaRPr b="0" i="0" sz="2400" u="none" cap="none" strike="noStrike">
              <a:solidFill>
                <a:srgbClr val="5F6368"/>
              </a:solidFill>
              <a:latin typeface="Open Sans"/>
              <a:ea typeface="Open Sans"/>
              <a:cs typeface="Open Sans"/>
              <a:sym typeface="Open Sans"/>
            </a:endParaRPr>
          </a:p>
        </p:txBody>
      </p:sp>
      <p:sp>
        <p:nvSpPr>
          <p:cNvPr id="292" name="Google Shape;292;p15"/>
          <p:cNvSpPr txBox="1"/>
          <p:nvPr/>
        </p:nvSpPr>
        <p:spPr>
          <a:xfrm>
            <a:off x="532875" y="1050575"/>
            <a:ext cx="7873500" cy="6480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Write a short introduction to the usability studies you conducted and your findings.</a:t>
            </a:r>
            <a:endParaRPr b="0" i="0" sz="1400" u="none" cap="none" strike="noStrike">
              <a:solidFill>
                <a:srgbClr val="5F6368"/>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5F6368"/>
              </a:solidFill>
              <a:latin typeface="Open Sans"/>
              <a:ea typeface="Open Sans"/>
              <a:cs typeface="Open Sans"/>
              <a:sym typeface="Open Sans"/>
            </a:endParaRPr>
          </a:p>
        </p:txBody>
      </p:sp>
      <p:sp>
        <p:nvSpPr>
          <p:cNvPr id="293" name="Google Shape;293;p15"/>
          <p:cNvSpPr txBox="1"/>
          <p:nvPr/>
        </p:nvSpPr>
        <p:spPr>
          <a:xfrm>
            <a:off x="456675" y="202257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rgbClr val="F29900"/>
                </a:solidFill>
                <a:latin typeface="Open Sans"/>
                <a:ea typeface="Open Sans"/>
                <a:cs typeface="Open Sans"/>
                <a:sym typeface="Open Sans"/>
              </a:rPr>
              <a:t>Original Air India website</a:t>
            </a:r>
            <a:endParaRPr b="1" i="0" sz="1400" u="none" cap="none" strike="noStrike">
              <a:solidFill>
                <a:srgbClr val="F29900"/>
              </a:solidFill>
              <a:latin typeface="Arial"/>
              <a:ea typeface="Arial"/>
              <a:cs typeface="Arial"/>
              <a:sym typeface="Arial"/>
            </a:endParaRPr>
          </a:p>
        </p:txBody>
      </p:sp>
      <p:sp>
        <p:nvSpPr>
          <p:cNvPr id="294" name="Google Shape;294;p15"/>
          <p:cNvSpPr/>
          <p:nvPr/>
        </p:nvSpPr>
        <p:spPr>
          <a:xfrm>
            <a:off x="4477900" y="2422775"/>
            <a:ext cx="3775800" cy="20637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5"/>
          <p:cNvSpPr txBox="1"/>
          <p:nvPr/>
        </p:nvSpPr>
        <p:spPr>
          <a:xfrm>
            <a:off x="4984525" y="256850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296" name="Google Shape;296;p15"/>
          <p:cNvSpPr/>
          <p:nvPr/>
        </p:nvSpPr>
        <p:spPr>
          <a:xfrm>
            <a:off x="4671550" y="263119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1</a:t>
            </a:r>
            <a:endParaRPr b="0" i="0" sz="1400" u="none" cap="none" strike="noStrike">
              <a:solidFill>
                <a:srgbClr val="FFFFFF"/>
              </a:solidFill>
              <a:latin typeface="Google Sans Medium"/>
              <a:ea typeface="Google Sans Medium"/>
              <a:cs typeface="Google Sans Medium"/>
              <a:sym typeface="Google Sans Medium"/>
            </a:endParaRPr>
          </a:p>
        </p:txBody>
      </p:sp>
      <p:sp>
        <p:nvSpPr>
          <p:cNvPr id="297" name="Google Shape;297;p15"/>
          <p:cNvSpPr txBox="1"/>
          <p:nvPr/>
        </p:nvSpPr>
        <p:spPr>
          <a:xfrm>
            <a:off x="4984525" y="319832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298" name="Google Shape;298;p15"/>
          <p:cNvSpPr/>
          <p:nvPr/>
        </p:nvSpPr>
        <p:spPr>
          <a:xfrm>
            <a:off x="4671550" y="3261023"/>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2</a:t>
            </a:r>
            <a:endParaRPr b="0" i="0" sz="1400" u="none" cap="none" strike="noStrike">
              <a:solidFill>
                <a:srgbClr val="FFFFFF"/>
              </a:solidFill>
              <a:latin typeface="Google Sans Medium"/>
              <a:ea typeface="Google Sans Medium"/>
              <a:cs typeface="Google Sans Medium"/>
              <a:sym typeface="Google Sans Medium"/>
            </a:endParaRPr>
          </a:p>
        </p:txBody>
      </p:sp>
      <p:sp>
        <p:nvSpPr>
          <p:cNvPr id="299" name="Google Shape;299;p15"/>
          <p:cNvSpPr txBox="1"/>
          <p:nvPr/>
        </p:nvSpPr>
        <p:spPr>
          <a:xfrm>
            <a:off x="4416900" y="202257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rgbClr val="F29900"/>
                </a:solidFill>
                <a:latin typeface="Open Sans"/>
                <a:ea typeface="Open Sans"/>
                <a:cs typeface="Open Sans"/>
                <a:sym typeface="Open Sans"/>
              </a:rPr>
              <a:t>Redesigned Figma prototype</a:t>
            </a:r>
            <a:endParaRPr b="1" i="0" sz="1400" u="none" cap="none" strike="noStrike">
              <a:solidFill>
                <a:srgbClr val="F29900"/>
              </a:solidFill>
              <a:latin typeface="Arial"/>
              <a:ea typeface="Arial"/>
              <a:cs typeface="Arial"/>
              <a:sym typeface="Arial"/>
            </a:endParaRPr>
          </a:p>
        </p:txBody>
      </p:sp>
      <p:sp>
        <p:nvSpPr>
          <p:cNvPr id="300" name="Google Shape;300;p15"/>
          <p:cNvSpPr txBox="1"/>
          <p:nvPr/>
        </p:nvSpPr>
        <p:spPr>
          <a:xfrm>
            <a:off x="4937363" y="382815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301" name="Google Shape;301;p15"/>
          <p:cNvSpPr/>
          <p:nvPr/>
        </p:nvSpPr>
        <p:spPr>
          <a:xfrm>
            <a:off x="4671538" y="389084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3</a:t>
            </a:r>
            <a:endParaRPr b="0" i="0" sz="1400" u="none" cap="none" strike="noStrike">
              <a:solidFill>
                <a:srgbClr val="FFFFFF"/>
              </a:solidFill>
              <a:latin typeface="Google Sans Medium"/>
              <a:ea typeface="Google Sans Medium"/>
              <a:cs typeface="Google Sans Medium"/>
              <a:sym typeface="Google Sans Medium"/>
            </a:endParaRPr>
          </a:p>
        </p:txBody>
      </p:sp>
      <p:sp>
        <p:nvSpPr>
          <p:cNvPr id="302" name="Google Shape;302;p15"/>
          <p:cNvSpPr/>
          <p:nvPr/>
        </p:nvSpPr>
        <p:spPr>
          <a:xfrm>
            <a:off x="456675" y="2422775"/>
            <a:ext cx="3775800" cy="20637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5"/>
          <p:cNvSpPr txBox="1"/>
          <p:nvPr/>
        </p:nvSpPr>
        <p:spPr>
          <a:xfrm>
            <a:off x="963300" y="256850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304" name="Google Shape;304;p15"/>
          <p:cNvSpPr/>
          <p:nvPr/>
        </p:nvSpPr>
        <p:spPr>
          <a:xfrm>
            <a:off x="650325" y="263119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1</a:t>
            </a:r>
            <a:endParaRPr b="0" i="0" sz="1400" u="none" cap="none" strike="noStrike">
              <a:solidFill>
                <a:srgbClr val="FFFFFF"/>
              </a:solidFill>
              <a:latin typeface="Google Sans Medium"/>
              <a:ea typeface="Google Sans Medium"/>
              <a:cs typeface="Google Sans Medium"/>
              <a:sym typeface="Google Sans Medium"/>
            </a:endParaRPr>
          </a:p>
        </p:txBody>
      </p:sp>
      <p:sp>
        <p:nvSpPr>
          <p:cNvPr id="305" name="Google Shape;305;p15"/>
          <p:cNvSpPr txBox="1"/>
          <p:nvPr/>
        </p:nvSpPr>
        <p:spPr>
          <a:xfrm>
            <a:off x="963300" y="3198325"/>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306" name="Google Shape;306;p15"/>
          <p:cNvSpPr/>
          <p:nvPr/>
        </p:nvSpPr>
        <p:spPr>
          <a:xfrm>
            <a:off x="650325" y="3261023"/>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2</a:t>
            </a:r>
            <a:endParaRPr b="0" i="0" sz="1400" u="none" cap="none" strike="noStrike">
              <a:solidFill>
                <a:srgbClr val="FFFFFF"/>
              </a:solidFill>
              <a:latin typeface="Google Sans Medium"/>
              <a:ea typeface="Google Sans Medium"/>
              <a:cs typeface="Google Sans Medium"/>
              <a:sym typeface="Google Sans Medium"/>
            </a:endParaRPr>
          </a:p>
        </p:txBody>
      </p:sp>
      <p:sp>
        <p:nvSpPr>
          <p:cNvPr id="307" name="Google Shape;307;p15"/>
          <p:cNvSpPr txBox="1"/>
          <p:nvPr/>
        </p:nvSpPr>
        <p:spPr>
          <a:xfrm>
            <a:off x="916138" y="3828150"/>
            <a:ext cx="3336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The original site felt crowded</a:t>
            </a:r>
            <a:endParaRPr b="0" i="0" sz="1400" u="none" cap="none" strike="noStrike">
              <a:solidFill>
                <a:srgbClr val="000000"/>
              </a:solidFill>
              <a:latin typeface="Arial"/>
              <a:ea typeface="Arial"/>
              <a:cs typeface="Arial"/>
              <a:sym typeface="Arial"/>
            </a:endParaRPr>
          </a:p>
        </p:txBody>
      </p:sp>
      <p:sp>
        <p:nvSpPr>
          <p:cNvPr id="308" name="Google Shape;308;p15"/>
          <p:cNvSpPr/>
          <p:nvPr/>
        </p:nvSpPr>
        <p:spPr>
          <a:xfrm>
            <a:off x="650313" y="3890848"/>
            <a:ext cx="274800" cy="274800"/>
          </a:xfrm>
          <a:prstGeom prst="ellipse">
            <a:avLst/>
          </a:prstGeom>
          <a:solidFill>
            <a:srgbClr val="F299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Google Sans Medium"/>
                <a:ea typeface="Google Sans Medium"/>
                <a:cs typeface="Google Sans Medium"/>
                <a:sym typeface="Google Sans Medium"/>
              </a:rPr>
              <a:t>3</a:t>
            </a:r>
            <a:endParaRPr b="0" i="0" sz="1400" u="none" cap="none" strike="noStrik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A853"/>
        </a:solidFill>
      </p:bgPr>
    </p:bg>
    <p:spTree>
      <p:nvGrpSpPr>
        <p:cNvPr id="312" name="Shape 312"/>
        <p:cNvGrpSpPr/>
        <p:nvPr/>
      </p:nvGrpSpPr>
      <p:grpSpPr>
        <a:xfrm>
          <a:off x="0" y="0"/>
          <a:ext cx="0" cy="0"/>
          <a:chOff x="0" y="0"/>
          <a:chExt cx="0" cy="0"/>
        </a:xfrm>
      </p:grpSpPr>
      <p:sp>
        <p:nvSpPr>
          <p:cNvPr id="313" name="Google Shape;313;p16"/>
          <p:cNvSpPr txBox="1"/>
          <p:nvPr/>
        </p:nvSpPr>
        <p:spPr>
          <a:xfrm>
            <a:off x="3721275" y="2048400"/>
            <a:ext cx="3990000" cy="1046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Mockups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High-fidelity prototype</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Accessibility</a:t>
            </a:r>
            <a:endParaRPr b="0" i="0" sz="1400" u="none" cap="none" strike="noStrike">
              <a:solidFill>
                <a:srgbClr val="FFFFFF"/>
              </a:solidFill>
              <a:latin typeface="Open Sans"/>
              <a:ea typeface="Open Sans"/>
              <a:cs typeface="Open Sans"/>
              <a:sym typeface="Open Sans"/>
            </a:endParaRPr>
          </a:p>
        </p:txBody>
      </p:sp>
      <p:sp>
        <p:nvSpPr>
          <p:cNvPr id="314" name="Google Shape;314;p16"/>
          <p:cNvSpPr txBox="1"/>
          <p:nvPr/>
        </p:nvSpPr>
        <p:spPr>
          <a:xfrm>
            <a:off x="-468875" y="2082300"/>
            <a:ext cx="3704400" cy="978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Refining</a:t>
            </a:r>
            <a:endParaRPr b="0" i="0" sz="2400" u="none" cap="none" strike="noStrike">
              <a:solidFill>
                <a:srgbClr val="FFFFFF"/>
              </a:solidFill>
              <a:latin typeface="Open Sans"/>
              <a:ea typeface="Open Sans"/>
              <a:cs typeface="Open Sans"/>
              <a:sym typeface="Open Sans"/>
            </a:endParaRPr>
          </a:p>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the design</a:t>
            </a:r>
            <a:endParaRPr b="0" i="0" sz="2400" u="none" cap="none" strike="noStrike">
              <a:solidFill>
                <a:srgbClr val="FFFFFF"/>
              </a:solidFill>
              <a:latin typeface="Open Sans"/>
              <a:ea typeface="Open Sans"/>
              <a:cs typeface="Open Sans"/>
              <a:sym typeface="Open Sans"/>
            </a:endParaRPr>
          </a:p>
        </p:txBody>
      </p:sp>
      <p:cxnSp>
        <p:nvCxnSpPr>
          <p:cNvPr id="315" name="Google Shape;315;p16"/>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7"/>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sp>
        <p:nvSpPr>
          <p:cNvPr id="321" name="Google Shape;321;p17"/>
          <p:cNvSpPr txBox="1"/>
          <p:nvPr/>
        </p:nvSpPr>
        <p:spPr>
          <a:xfrm>
            <a:off x="517675" y="1522550"/>
            <a:ext cx="2421300" cy="1046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7"/>
          <p:cNvSpPr/>
          <p:nvPr/>
        </p:nvSpPr>
        <p:spPr>
          <a:xfrm>
            <a:off x="3718563" y="12500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7"/>
          <p:cNvSpPr txBox="1"/>
          <p:nvPr/>
        </p:nvSpPr>
        <p:spPr>
          <a:xfrm>
            <a:off x="4008525" y="2393750"/>
            <a:ext cx="1239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original screen screenshot here.</a:t>
            </a:r>
            <a:endParaRPr b="0" i="0" sz="1200" u="none" cap="none" strike="noStrike">
              <a:solidFill>
                <a:srgbClr val="5F6368"/>
              </a:solidFill>
              <a:latin typeface="Open Sans"/>
              <a:ea typeface="Open Sans"/>
              <a:cs typeface="Open Sans"/>
              <a:sym typeface="Open Sans"/>
            </a:endParaRPr>
          </a:p>
        </p:txBody>
      </p:sp>
      <p:sp>
        <p:nvSpPr>
          <p:cNvPr id="324" name="Google Shape;324;p17"/>
          <p:cNvSpPr/>
          <p:nvPr/>
        </p:nvSpPr>
        <p:spPr>
          <a:xfrm>
            <a:off x="6774138" y="12683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5" name="Google Shape;325;p17"/>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26" name="Google Shape;326;p17"/>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Before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27" name="Google Shape;327;p17"/>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After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28" name="Google Shape;328;p17"/>
          <p:cNvSpPr txBox="1"/>
          <p:nvPr/>
        </p:nvSpPr>
        <p:spPr>
          <a:xfrm>
            <a:off x="7064125" y="2393750"/>
            <a:ext cx="1239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redesigned screen screenshot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8"/>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sp>
        <p:nvSpPr>
          <p:cNvPr id="334" name="Google Shape;334;p18"/>
          <p:cNvSpPr txBox="1"/>
          <p:nvPr/>
        </p:nvSpPr>
        <p:spPr>
          <a:xfrm>
            <a:off x="517675" y="1522550"/>
            <a:ext cx="2421300" cy="1046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Map the journey from entering trip details to selecting a flight and confirming the booking. At each step, prioritise the user's immediate question: where am I going, which option fits me, and what should I do next?</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8"/>
          <p:cNvSpPr/>
          <p:nvPr/>
        </p:nvSpPr>
        <p:spPr>
          <a:xfrm>
            <a:off x="3718563" y="12500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8"/>
          <p:cNvSpPr/>
          <p:nvPr/>
        </p:nvSpPr>
        <p:spPr>
          <a:xfrm>
            <a:off x="6774138" y="126830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7" name="Google Shape;337;p18"/>
          <p:cNvCxnSpPr/>
          <p:nvPr/>
        </p:nvCxnSpPr>
        <p:spPr>
          <a:xfrm>
            <a:off x="5749763" y="2855450"/>
            <a:ext cx="812100" cy="0"/>
          </a:xfrm>
          <a:prstGeom prst="straightConnector1">
            <a:avLst/>
          </a:prstGeom>
          <a:noFill/>
          <a:ln cap="flat" cmpd="sng" w="28575">
            <a:solidFill>
              <a:srgbClr val="34A853"/>
            </a:solidFill>
            <a:prstDash val="solid"/>
            <a:round/>
            <a:headEnd len="sm" w="sm" type="none"/>
            <a:tailEnd len="med" w="med" type="triangle"/>
          </a:ln>
        </p:spPr>
      </p:cxnSp>
      <p:sp>
        <p:nvSpPr>
          <p:cNvPr id="338" name="Google Shape;338;p18"/>
          <p:cNvSpPr txBox="1"/>
          <p:nvPr/>
        </p:nvSpPr>
        <p:spPr>
          <a:xfrm>
            <a:off x="3451125"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Before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39" name="Google Shape;339;p18"/>
          <p:cNvSpPr txBox="1"/>
          <p:nvPr/>
        </p:nvSpPr>
        <p:spPr>
          <a:xfrm>
            <a:off x="6506700" y="853300"/>
            <a:ext cx="2353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34A853"/>
                </a:solidFill>
                <a:latin typeface="Open Sans"/>
                <a:ea typeface="Open Sans"/>
                <a:cs typeface="Open Sans"/>
                <a:sym typeface="Open Sans"/>
              </a:rPr>
              <a:t>After usability study</a:t>
            </a:r>
            <a:endParaRPr b="0" i="0" sz="1200" u="none" cap="none" strike="noStrike">
              <a:solidFill>
                <a:srgbClr val="34A853"/>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1967D2"/>
              </a:solidFill>
              <a:latin typeface="Arial"/>
              <a:ea typeface="Arial"/>
              <a:cs typeface="Arial"/>
              <a:sym typeface="Arial"/>
            </a:endParaRPr>
          </a:p>
        </p:txBody>
      </p:sp>
      <p:sp>
        <p:nvSpPr>
          <p:cNvPr id="340" name="Google Shape;340;p18"/>
          <p:cNvSpPr txBox="1"/>
          <p:nvPr/>
        </p:nvSpPr>
        <p:spPr>
          <a:xfrm>
            <a:off x="4008525" y="2393750"/>
            <a:ext cx="1239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original screen screenshot here.</a:t>
            </a:r>
            <a:endParaRPr b="0" i="0" sz="1200" u="none" cap="none" strike="noStrike">
              <a:solidFill>
                <a:srgbClr val="5F6368"/>
              </a:solidFill>
              <a:latin typeface="Open Sans"/>
              <a:ea typeface="Open Sans"/>
              <a:cs typeface="Open Sans"/>
              <a:sym typeface="Open Sans"/>
            </a:endParaRPr>
          </a:p>
        </p:txBody>
      </p:sp>
      <p:sp>
        <p:nvSpPr>
          <p:cNvPr id="341" name="Google Shape;341;p18"/>
          <p:cNvSpPr txBox="1"/>
          <p:nvPr/>
        </p:nvSpPr>
        <p:spPr>
          <a:xfrm>
            <a:off x="7064125" y="2393750"/>
            <a:ext cx="1239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redesigned screen screenshot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9"/>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Mockups</a:t>
            </a:r>
            <a:endParaRPr b="0" i="0" sz="2400" u="none" cap="none" strike="noStrike">
              <a:solidFill>
                <a:srgbClr val="5F6368"/>
              </a:solidFill>
              <a:latin typeface="Open Sans"/>
              <a:ea typeface="Open Sans"/>
              <a:cs typeface="Open Sans"/>
              <a:sym typeface="Open Sans"/>
            </a:endParaRPr>
          </a:p>
        </p:txBody>
      </p:sp>
      <p:sp>
        <p:nvSpPr>
          <p:cNvPr id="347" name="Google Shape;347;p19"/>
          <p:cNvSpPr/>
          <p:nvPr/>
        </p:nvSpPr>
        <p:spPr>
          <a:xfrm>
            <a:off x="531000" y="139185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9"/>
          <p:cNvSpPr/>
          <p:nvPr/>
        </p:nvSpPr>
        <p:spPr>
          <a:xfrm>
            <a:off x="2601788" y="1413675"/>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9"/>
          <p:cNvSpPr/>
          <p:nvPr/>
        </p:nvSpPr>
        <p:spPr>
          <a:xfrm>
            <a:off x="4697950" y="144785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9"/>
          <p:cNvSpPr/>
          <p:nvPr/>
        </p:nvSpPr>
        <p:spPr>
          <a:xfrm>
            <a:off x="6794100" y="1447850"/>
            <a:ext cx="1818900" cy="3174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9"/>
          <p:cNvSpPr txBox="1"/>
          <p:nvPr/>
        </p:nvSpPr>
        <p:spPr>
          <a:xfrm>
            <a:off x="890250" y="2701950"/>
            <a:ext cx="1100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final prototype screen here.</a:t>
            </a:r>
            <a:endParaRPr b="0" i="0" sz="1200" u="none" cap="none" strike="noStrike">
              <a:solidFill>
                <a:srgbClr val="5F6368"/>
              </a:solidFill>
              <a:latin typeface="Open Sans"/>
              <a:ea typeface="Open Sans"/>
              <a:cs typeface="Open Sans"/>
              <a:sym typeface="Open Sans"/>
            </a:endParaRPr>
          </a:p>
        </p:txBody>
      </p:sp>
      <p:sp>
        <p:nvSpPr>
          <p:cNvPr id="352" name="Google Shape;352;p19"/>
          <p:cNvSpPr txBox="1"/>
          <p:nvPr/>
        </p:nvSpPr>
        <p:spPr>
          <a:xfrm>
            <a:off x="2953850" y="2723775"/>
            <a:ext cx="1100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Insert final prototype screen here.</a:t>
            </a:r>
            <a:endParaRPr b="0" i="0" sz="1200" u="none" cap="none" strike="noStrike">
              <a:solidFill>
                <a:srgbClr val="5F6368"/>
              </a:solidFill>
              <a:latin typeface="Open Sans"/>
              <a:ea typeface="Open Sans"/>
              <a:cs typeface="Open Sans"/>
              <a:sym typeface="Open Sans"/>
            </a:endParaRPr>
          </a:p>
        </p:txBody>
      </p:sp>
      <p:sp>
        <p:nvSpPr>
          <p:cNvPr id="353" name="Google Shape;353;p19"/>
          <p:cNvSpPr txBox="1"/>
          <p:nvPr/>
        </p:nvSpPr>
        <p:spPr>
          <a:xfrm>
            <a:off x="5057200" y="2701950"/>
            <a:ext cx="1100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Insert final prototype screen here.</a:t>
            </a:r>
            <a:endParaRPr b="0" i="0" sz="1200" u="none" cap="none" strike="noStrike">
              <a:solidFill>
                <a:srgbClr val="5F6368"/>
              </a:solidFill>
              <a:latin typeface="Open Sans"/>
              <a:ea typeface="Open Sans"/>
              <a:cs typeface="Open Sans"/>
              <a:sym typeface="Open Sans"/>
            </a:endParaRPr>
          </a:p>
        </p:txBody>
      </p:sp>
      <p:sp>
        <p:nvSpPr>
          <p:cNvPr id="354" name="Google Shape;354;p19"/>
          <p:cNvSpPr txBox="1"/>
          <p:nvPr/>
        </p:nvSpPr>
        <p:spPr>
          <a:xfrm>
            <a:off x="7160550" y="2757950"/>
            <a:ext cx="11004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rgbClr val="5F6368"/>
                </a:solidFill>
                <a:latin typeface="Open Sans"/>
                <a:ea typeface="Open Sans"/>
                <a:cs typeface="Open Sans"/>
                <a:sym typeface="Open Sans"/>
              </a:rPr>
              <a:t>Insert final prototype screen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0"/>
          <p:cNvSpPr/>
          <p:nvPr/>
        </p:nvSpPr>
        <p:spPr>
          <a:xfrm>
            <a:off x="4211875" y="524350"/>
            <a:ext cx="4682700" cy="4215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0"/>
          <p:cNvSpPr txBox="1"/>
          <p:nvPr/>
        </p:nvSpPr>
        <p:spPr>
          <a:xfrm>
            <a:off x="517675" y="524350"/>
            <a:ext cx="7000800" cy="978900"/>
          </a:xfrm>
          <a:prstGeom prst="rect">
            <a:avLst/>
          </a:prstGeom>
          <a:noFill/>
          <a:ln>
            <a:noFill/>
          </a:ln>
        </p:spPr>
        <p:txBody>
          <a:bodyPr anchorCtr="0" anchor="t" bIns="91425" lIns="0"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High-fidelity</a:t>
            </a:r>
            <a:br>
              <a:rPr b="0" i="0" lang="en" sz="2400" u="none" cap="none" strike="noStrike">
                <a:solidFill>
                  <a:srgbClr val="5F6368"/>
                </a:solidFill>
                <a:latin typeface="Open Sans"/>
                <a:ea typeface="Open Sans"/>
                <a:cs typeface="Open Sans"/>
                <a:sym typeface="Open Sans"/>
              </a:rPr>
            </a:br>
            <a:r>
              <a:rPr b="0" i="0" lang="en" sz="2400" u="none" cap="none" strike="noStrike">
                <a:solidFill>
                  <a:srgbClr val="5F6368"/>
                </a:solidFill>
                <a:latin typeface="Open Sans"/>
                <a:ea typeface="Open Sans"/>
                <a:cs typeface="Open Sans"/>
                <a:sym typeface="Open Sans"/>
              </a:rPr>
              <a:t>prototype</a:t>
            </a:r>
            <a:endParaRPr b="0" i="0" sz="2400" u="none" cap="none" strike="noStrike">
              <a:solidFill>
                <a:srgbClr val="5F6368"/>
              </a:solidFill>
              <a:latin typeface="Open Sans"/>
              <a:ea typeface="Open Sans"/>
              <a:cs typeface="Open Sans"/>
              <a:sym typeface="Open Sans"/>
            </a:endParaRPr>
          </a:p>
        </p:txBody>
      </p:sp>
      <p:sp>
        <p:nvSpPr>
          <p:cNvPr id="361" name="Google Shape;361;p20"/>
          <p:cNvSpPr txBox="1"/>
          <p:nvPr/>
        </p:nvSpPr>
        <p:spPr>
          <a:xfrm>
            <a:off x="532875" y="1793800"/>
            <a:ext cx="2224200" cy="10467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[Link to high-fidelity prototype]</a:t>
            </a:r>
            <a:endParaRPr b="0" i="0" sz="1400" u="none" cap="none" strike="noStrike">
              <a:solidFill>
                <a:srgbClr val="5F6368"/>
              </a:solidFill>
              <a:latin typeface="Open Sans"/>
              <a:ea typeface="Open Sans"/>
              <a:cs typeface="Open Sans"/>
              <a:sym typeface="Open Sa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62" name="Google Shape;362;p20"/>
          <p:cNvSpPr txBox="1"/>
          <p:nvPr/>
        </p:nvSpPr>
        <p:spPr>
          <a:xfrm>
            <a:off x="6011725" y="2110050"/>
            <a:ext cx="13323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Insert a screenshot or GIF of the Figma prototype flow here.</a:t>
            </a:r>
            <a:endParaRPr b="0" i="0" sz="1200" u="none" cap="none" strike="noStrike">
              <a:solidFill>
                <a:srgbClr val="5F6368"/>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txBox="1"/>
          <p:nvPr/>
        </p:nvSpPr>
        <p:spPr>
          <a:xfrm>
            <a:off x="517675" y="524350"/>
            <a:ext cx="70008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Accessibility considerations</a:t>
            </a:r>
            <a:endParaRPr b="0" i="0" sz="2400" u="none" cap="none" strike="noStrike">
              <a:solidFill>
                <a:srgbClr val="5F6368"/>
              </a:solidFill>
              <a:latin typeface="Open Sans"/>
              <a:ea typeface="Open Sans"/>
              <a:cs typeface="Open Sans"/>
              <a:sym typeface="Open Sans"/>
            </a:endParaRPr>
          </a:p>
        </p:txBody>
      </p:sp>
      <p:sp>
        <p:nvSpPr>
          <p:cNvPr id="368" name="Google Shape;368;p21"/>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1"/>
          <p:cNvSpPr txBox="1"/>
          <p:nvPr/>
        </p:nvSpPr>
        <p:spPr>
          <a:xfrm>
            <a:off x="711325" y="1917800"/>
            <a:ext cx="2049000" cy="1218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 clear labels and a consistent visual hierarchy so users can identify important information and actions quickly.</a:t>
            </a:r>
            <a:endParaRPr b="0" i="0" sz="1200" u="none" cap="none" strike="noStrike">
              <a:solidFill>
                <a:srgbClr val="000000"/>
              </a:solidFill>
              <a:latin typeface="Arial"/>
              <a:ea typeface="Arial"/>
              <a:cs typeface="Arial"/>
              <a:sym typeface="Arial"/>
            </a:endParaRPr>
          </a:p>
        </p:txBody>
      </p:sp>
      <p:sp>
        <p:nvSpPr>
          <p:cNvPr id="370" name="Google Shape;370;p21"/>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1"/>
          <p:cNvSpPr txBox="1"/>
          <p:nvPr/>
        </p:nvSpPr>
        <p:spPr>
          <a:xfrm>
            <a:off x="3368925" y="1917800"/>
            <a:ext cx="2049000" cy="1218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Maintain readable text, adequate contrast, and sufficiently large interactive targets; verify these in the final Figma screens.</a:t>
            </a:r>
            <a:endParaRPr b="0" i="0" sz="1200" u="none" cap="none" strike="noStrike">
              <a:solidFill>
                <a:srgbClr val="000000"/>
              </a:solidFill>
              <a:latin typeface="Arial"/>
              <a:ea typeface="Arial"/>
              <a:cs typeface="Arial"/>
              <a:sym typeface="Arial"/>
            </a:endParaRPr>
          </a:p>
        </p:txBody>
      </p:sp>
      <p:sp>
        <p:nvSpPr>
          <p:cNvPr id="372" name="Google Shape;372;p21"/>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21"/>
          <p:cNvSpPr txBox="1"/>
          <p:nvPr/>
        </p:nvSpPr>
        <p:spPr>
          <a:xfrm>
            <a:off x="6026525" y="1917800"/>
            <a:ext cx="2049000" cy="1218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5F6368"/>
                </a:solidFill>
                <a:latin typeface="Open Sans"/>
                <a:ea typeface="Open Sans"/>
                <a:cs typeface="Open Sans"/>
                <a:sym typeface="Open Sans"/>
              </a:rPr>
              <a:t>Use clear labels and a consistent visual hierarchy so users can identify important information and actions quickly.</a:t>
            </a:r>
            <a:endParaRPr b="0" i="0" sz="1200" u="none" cap="none" strike="noStrike">
              <a:solidFill>
                <a:srgbClr val="000000"/>
              </a:solidFill>
              <a:latin typeface="Arial"/>
              <a:ea typeface="Arial"/>
              <a:cs typeface="Arial"/>
              <a:sym typeface="Arial"/>
            </a:endParaRPr>
          </a:p>
        </p:txBody>
      </p:sp>
      <p:sp>
        <p:nvSpPr>
          <p:cNvPr id="374" name="Google Shape;374;p21"/>
          <p:cNvSpPr/>
          <p:nvPr/>
        </p:nvSpPr>
        <p:spPr>
          <a:xfrm>
            <a:off x="14791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1</a:t>
            </a:r>
            <a:endParaRPr b="0" i="0" sz="2200" u="none" cap="none" strike="noStrike">
              <a:solidFill>
                <a:srgbClr val="FFFFFF"/>
              </a:solidFill>
              <a:latin typeface="Google Sans Medium"/>
              <a:ea typeface="Google Sans Medium"/>
              <a:cs typeface="Google Sans Medium"/>
              <a:sym typeface="Google Sans Medium"/>
            </a:endParaRPr>
          </a:p>
        </p:txBody>
      </p:sp>
      <p:sp>
        <p:nvSpPr>
          <p:cNvPr id="375" name="Google Shape;375;p21"/>
          <p:cNvSpPr/>
          <p:nvPr/>
        </p:nvSpPr>
        <p:spPr>
          <a:xfrm>
            <a:off x="41367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2</a:t>
            </a:r>
            <a:endParaRPr b="0" i="0" sz="2200" u="none" cap="none" strike="noStrike">
              <a:solidFill>
                <a:srgbClr val="FFFFFF"/>
              </a:solidFill>
              <a:latin typeface="Google Sans Medium"/>
              <a:ea typeface="Google Sans Medium"/>
              <a:cs typeface="Google Sans Medium"/>
              <a:sym typeface="Google Sans Medium"/>
            </a:endParaRPr>
          </a:p>
        </p:txBody>
      </p:sp>
      <p:sp>
        <p:nvSpPr>
          <p:cNvPr id="376" name="Google Shape;376;p21"/>
          <p:cNvSpPr/>
          <p:nvPr/>
        </p:nvSpPr>
        <p:spPr>
          <a:xfrm>
            <a:off x="6794375" y="1233971"/>
            <a:ext cx="513300" cy="513300"/>
          </a:xfrm>
          <a:prstGeom prst="ellipse">
            <a:avLst/>
          </a:prstGeom>
          <a:solidFill>
            <a:srgbClr val="34A85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3</a:t>
            </a:r>
            <a:endParaRPr b="0" i="0" sz="2200" u="none" cap="none" strike="noStrik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F6368"/>
        </a:solidFill>
      </p:bgPr>
    </p:bg>
    <p:spTree>
      <p:nvGrpSpPr>
        <p:cNvPr id="380" name="Shape 380"/>
        <p:cNvGrpSpPr/>
        <p:nvPr/>
      </p:nvGrpSpPr>
      <p:grpSpPr>
        <a:xfrm>
          <a:off x="0" y="0"/>
          <a:ext cx="0" cy="0"/>
          <a:chOff x="0" y="0"/>
          <a:chExt cx="0" cy="0"/>
        </a:xfrm>
      </p:grpSpPr>
      <p:sp>
        <p:nvSpPr>
          <p:cNvPr id="381" name="Google Shape;381;p22"/>
          <p:cNvSpPr txBox="1"/>
          <p:nvPr/>
        </p:nvSpPr>
        <p:spPr>
          <a:xfrm>
            <a:off x="3721275" y="2210100"/>
            <a:ext cx="2275500" cy="723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Takeaways</a:t>
            </a:r>
            <a:endParaRPr b="0" i="0" sz="1400" u="none" cap="none" strike="noStrike">
              <a:solidFill>
                <a:srgbClr val="FFFFFF"/>
              </a:solidFill>
              <a:latin typeface="Open Sans"/>
              <a:ea typeface="Open Sans"/>
              <a:cs typeface="Open Sans"/>
              <a:sym typeface="Open Sans"/>
            </a:endParaRPr>
          </a:p>
          <a:p>
            <a:pPr indent="-317500" lvl="0" marL="457200" marR="0" rtl="0" algn="l">
              <a:lnSpc>
                <a:spcPct val="150000"/>
              </a:lnSpc>
              <a:spcBef>
                <a:spcPts val="0"/>
              </a:spcBef>
              <a:spcAft>
                <a:spcPts val="0"/>
              </a:spcAft>
              <a:buClr>
                <a:srgbClr val="FFFFFF"/>
              </a:buClr>
              <a:buSzPts val="1400"/>
              <a:buFont typeface="Open Sans"/>
              <a:buChar char="●"/>
            </a:pPr>
            <a:r>
              <a:rPr b="0" i="0" lang="en" sz="1400" u="none" cap="none" strike="noStrike">
                <a:solidFill>
                  <a:srgbClr val="FFFFFF"/>
                </a:solidFill>
                <a:latin typeface="Open Sans"/>
                <a:ea typeface="Open Sans"/>
                <a:cs typeface="Open Sans"/>
                <a:sym typeface="Open Sans"/>
              </a:rPr>
              <a:t>Next steps</a:t>
            </a:r>
            <a:endParaRPr b="0" i="0" sz="1400" u="none" cap="none" strike="noStrike">
              <a:solidFill>
                <a:srgbClr val="FFFFFF"/>
              </a:solidFill>
              <a:latin typeface="Open Sans"/>
              <a:ea typeface="Open Sans"/>
              <a:cs typeface="Open Sans"/>
              <a:sym typeface="Open Sans"/>
            </a:endParaRPr>
          </a:p>
        </p:txBody>
      </p:sp>
      <p:sp>
        <p:nvSpPr>
          <p:cNvPr id="382" name="Google Shape;382;p22"/>
          <p:cNvSpPr txBox="1"/>
          <p:nvPr/>
        </p:nvSpPr>
        <p:spPr>
          <a:xfrm>
            <a:off x="-468875" y="2294700"/>
            <a:ext cx="3704400" cy="5541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2400"/>
              <a:buFont typeface="Arial"/>
              <a:buNone/>
            </a:pPr>
            <a:r>
              <a:rPr b="0" i="0" lang="en" sz="2400" u="none" cap="none" strike="noStrike">
                <a:solidFill>
                  <a:srgbClr val="FFFFFF"/>
                </a:solidFill>
                <a:latin typeface="Open Sans"/>
                <a:ea typeface="Open Sans"/>
                <a:cs typeface="Open Sans"/>
                <a:sym typeface="Open Sans"/>
              </a:rPr>
              <a:t>Going forward</a:t>
            </a:r>
            <a:endParaRPr b="0" i="0" sz="2400" u="none" cap="none" strike="noStrike">
              <a:solidFill>
                <a:srgbClr val="FFFFFF"/>
              </a:solidFill>
              <a:latin typeface="Open Sans"/>
              <a:ea typeface="Open Sans"/>
              <a:cs typeface="Open Sans"/>
              <a:sym typeface="Open Sans"/>
            </a:endParaRPr>
          </a:p>
        </p:txBody>
      </p:sp>
      <p:cxnSp>
        <p:nvCxnSpPr>
          <p:cNvPr id="383" name="Google Shape;383;p22"/>
          <p:cNvCxnSpPr/>
          <p:nvPr/>
        </p:nvCxnSpPr>
        <p:spPr>
          <a:xfrm>
            <a:off x="3460100" y="1032150"/>
            <a:ext cx="36600" cy="3079200"/>
          </a:xfrm>
          <a:prstGeom prst="straightConnector1">
            <a:avLst/>
          </a:prstGeom>
          <a:noFill/>
          <a:ln cap="flat" cmpd="sng" w="19050">
            <a:solidFill>
              <a:srgbClr val="FFFFFF"/>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3"/>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Takeaways</a:t>
            </a:r>
            <a:endParaRPr b="0" i="0" sz="2400" u="none" cap="none" strike="noStrike">
              <a:solidFill>
                <a:srgbClr val="5F6368"/>
              </a:solidFill>
              <a:latin typeface="Open Sans"/>
              <a:ea typeface="Open Sans"/>
              <a:cs typeface="Open Sans"/>
              <a:sym typeface="Open Sans"/>
            </a:endParaRPr>
          </a:p>
        </p:txBody>
      </p:sp>
      <p:sp>
        <p:nvSpPr>
          <p:cNvPr id="389" name="Google Shape;389;p23"/>
          <p:cNvSpPr txBox="1"/>
          <p:nvPr/>
        </p:nvSpPr>
        <p:spPr>
          <a:xfrm>
            <a:off x="539600" y="2237975"/>
            <a:ext cx="3446100" cy="20778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Impact: In five qualitative sessions, participants generally preferred the prototype's cleaner layout and clearer actions. Participants described it as less overwhelming and smoother to use; this is directional feedback, not proof of improved task success at scale.</a:t>
            </a:r>
            <a:endParaRPr b="0" i="0" sz="1400" u="none" cap="none" strike="noStrike">
              <a:solidFill>
                <a:srgbClr val="5F6368"/>
              </a:solidFill>
              <a:latin typeface="Open Sans SemiBold"/>
              <a:ea typeface="Open Sans SemiBold"/>
              <a:cs typeface="Open Sans SemiBold"/>
              <a:sym typeface="Open Sans SemiBold"/>
            </a:endParaRPr>
          </a:p>
        </p:txBody>
      </p:sp>
      <p:sp>
        <p:nvSpPr>
          <p:cNvPr id="390" name="Google Shape;390;p23"/>
          <p:cNvSpPr/>
          <p:nvPr/>
        </p:nvSpPr>
        <p:spPr>
          <a:xfrm>
            <a:off x="5396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3"/>
          <p:cNvSpPr txBox="1"/>
          <p:nvPr/>
        </p:nvSpPr>
        <p:spPr>
          <a:xfrm>
            <a:off x="4495800" y="2237975"/>
            <a:ext cx="3446100" cy="969600"/>
          </a:xfrm>
          <a:prstGeom prst="rect">
            <a:avLst/>
          </a:prstGeom>
          <a:noFill/>
          <a:ln>
            <a:noFill/>
          </a:ln>
        </p:spPr>
        <p:txBody>
          <a:bodyPr anchorCtr="0" anchor="t" bIns="91425" lIns="0"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What I learned: Reducing clutter is not enough on its own: users still need essential fare details, clear passenger categories, and strong navigation cues. Testing both experiences revealed issues that were easy to overlook while designing alone.</a:t>
            </a:r>
            <a:endParaRPr b="0" i="0" sz="1400" u="none" cap="none" strike="noStrike">
              <a:solidFill>
                <a:srgbClr val="5F6368"/>
              </a:solidFill>
              <a:latin typeface="Open Sans SemiBold"/>
              <a:ea typeface="Open Sans SemiBold"/>
              <a:cs typeface="Open Sans SemiBold"/>
              <a:sym typeface="Open Sans SemiBold"/>
            </a:endParaRPr>
          </a:p>
        </p:txBody>
      </p:sp>
      <p:sp>
        <p:nvSpPr>
          <p:cNvPr id="392" name="Google Shape;392;p23"/>
          <p:cNvSpPr/>
          <p:nvPr/>
        </p:nvSpPr>
        <p:spPr>
          <a:xfrm>
            <a:off x="4495800" y="1534000"/>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3"/>
          <p:cNvSpPr/>
          <p:nvPr/>
        </p:nvSpPr>
        <p:spPr>
          <a:xfrm>
            <a:off x="679050" y="1660250"/>
            <a:ext cx="234394" cy="260801"/>
          </a:xfrm>
          <a:custGeom>
            <a:rect b="b" l="l" r="r" t="t"/>
            <a:pathLst>
              <a:path extrusionOk="0" h="1045" w="941">
                <a:moveTo>
                  <a:pt x="833" y="105"/>
                </a:moveTo>
                <a:lnTo>
                  <a:pt x="616" y="105"/>
                </a:lnTo>
                <a:cubicBezTo>
                  <a:pt x="593" y="45"/>
                  <a:pt x="536" y="0"/>
                  <a:pt x="469" y="0"/>
                </a:cubicBezTo>
                <a:cubicBezTo>
                  <a:pt x="401" y="0"/>
                  <a:pt x="345" y="45"/>
                  <a:pt x="322" y="105"/>
                </a:cubicBezTo>
                <a:lnTo>
                  <a:pt x="105" y="105"/>
                </a:lnTo>
                <a:cubicBezTo>
                  <a:pt x="48" y="105"/>
                  <a:pt x="0" y="153"/>
                  <a:pt x="0" y="209"/>
                </a:cubicBezTo>
                <a:lnTo>
                  <a:pt x="0" y="940"/>
                </a:lnTo>
                <a:cubicBezTo>
                  <a:pt x="0" y="997"/>
                  <a:pt x="48" y="1044"/>
                  <a:pt x="105" y="1044"/>
                </a:cubicBezTo>
                <a:lnTo>
                  <a:pt x="836" y="1044"/>
                </a:lnTo>
                <a:cubicBezTo>
                  <a:pt x="892" y="1044"/>
                  <a:pt x="940" y="997"/>
                  <a:pt x="940" y="940"/>
                </a:cubicBezTo>
                <a:lnTo>
                  <a:pt x="940" y="209"/>
                </a:lnTo>
                <a:cubicBezTo>
                  <a:pt x="937" y="153"/>
                  <a:pt x="889" y="105"/>
                  <a:pt x="833" y="105"/>
                </a:cubicBezTo>
                <a:close/>
                <a:moveTo>
                  <a:pt x="466" y="105"/>
                </a:moveTo>
                <a:cubicBezTo>
                  <a:pt x="494" y="105"/>
                  <a:pt x="520" y="127"/>
                  <a:pt x="520" y="158"/>
                </a:cubicBezTo>
                <a:cubicBezTo>
                  <a:pt x="520" y="187"/>
                  <a:pt x="497" y="212"/>
                  <a:pt x="466" y="212"/>
                </a:cubicBezTo>
                <a:cubicBezTo>
                  <a:pt x="435" y="212"/>
                  <a:pt x="412" y="189"/>
                  <a:pt x="412" y="158"/>
                </a:cubicBezTo>
                <a:cubicBezTo>
                  <a:pt x="415" y="127"/>
                  <a:pt x="438" y="105"/>
                  <a:pt x="466" y="105"/>
                </a:cubicBezTo>
                <a:close/>
                <a:moveTo>
                  <a:pt x="362" y="836"/>
                </a:moveTo>
                <a:lnTo>
                  <a:pt x="153" y="627"/>
                </a:lnTo>
                <a:lnTo>
                  <a:pt x="226" y="553"/>
                </a:lnTo>
                <a:lnTo>
                  <a:pt x="362" y="689"/>
                </a:lnTo>
                <a:lnTo>
                  <a:pt x="706" y="345"/>
                </a:lnTo>
                <a:lnTo>
                  <a:pt x="779" y="418"/>
                </a:lnTo>
                <a:lnTo>
                  <a:pt x="362" y="83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94" name="Google Shape;394;p23"/>
          <p:cNvGrpSpPr/>
          <p:nvPr/>
        </p:nvGrpSpPr>
        <p:grpSpPr>
          <a:xfrm>
            <a:off x="4605678" y="1676963"/>
            <a:ext cx="293543" cy="227362"/>
            <a:chOff x="420350" y="238125"/>
            <a:chExt cx="6779275" cy="5238750"/>
          </a:xfrm>
        </p:grpSpPr>
        <p:sp>
          <p:nvSpPr>
            <p:cNvPr id="395" name="Google Shape;395;p23"/>
            <p:cNvSpPr/>
            <p:nvPr/>
          </p:nvSpPr>
          <p:spPr>
            <a:xfrm>
              <a:off x="420350" y="238125"/>
              <a:ext cx="6779275" cy="5238750"/>
            </a:xfrm>
            <a:custGeom>
              <a:rect b="b" l="l" r="r" t="t"/>
              <a:pathLst>
                <a:path extrusionOk="0" h="209550" w="271171">
                  <a:moveTo>
                    <a:pt x="203423" y="24684"/>
                  </a:moveTo>
                  <a:lnTo>
                    <a:pt x="208928" y="24773"/>
                  </a:lnTo>
                  <a:lnTo>
                    <a:pt x="214433" y="25039"/>
                  </a:lnTo>
                  <a:lnTo>
                    <a:pt x="219938" y="25483"/>
                  </a:lnTo>
                  <a:lnTo>
                    <a:pt x="225443" y="26105"/>
                  </a:lnTo>
                  <a:lnTo>
                    <a:pt x="228107" y="26549"/>
                  </a:lnTo>
                  <a:lnTo>
                    <a:pt x="230859" y="26993"/>
                  </a:lnTo>
                  <a:lnTo>
                    <a:pt x="233523" y="27437"/>
                  </a:lnTo>
                  <a:lnTo>
                    <a:pt x="236187" y="28058"/>
                  </a:lnTo>
                  <a:lnTo>
                    <a:pt x="238762" y="28680"/>
                  </a:lnTo>
                  <a:lnTo>
                    <a:pt x="241426" y="29301"/>
                  </a:lnTo>
                  <a:lnTo>
                    <a:pt x="244001" y="30012"/>
                  </a:lnTo>
                  <a:lnTo>
                    <a:pt x="246576" y="30811"/>
                  </a:lnTo>
                  <a:lnTo>
                    <a:pt x="246576" y="172612"/>
                  </a:lnTo>
                  <a:lnTo>
                    <a:pt x="244001" y="171813"/>
                  </a:lnTo>
                  <a:lnTo>
                    <a:pt x="241426" y="171103"/>
                  </a:lnTo>
                  <a:lnTo>
                    <a:pt x="238762" y="170393"/>
                  </a:lnTo>
                  <a:lnTo>
                    <a:pt x="236187" y="169771"/>
                  </a:lnTo>
                  <a:lnTo>
                    <a:pt x="233523" y="169238"/>
                  </a:lnTo>
                  <a:lnTo>
                    <a:pt x="230859" y="168706"/>
                  </a:lnTo>
                  <a:lnTo>
                    <a:pt x="228107" y="168262"/>
                  </a:lnTo>
                  <a:lnTo>
                    <a:pt x="225443" y="167906"/>
                  </a:lnTo>
                  <a:lnTo>
                    <a:pt x="219938" y="167196"/>
                  </a:lnTo>
                  <a:lnTo>
                    <a:pt x="214433" y="166752"/>
                  </a:lnTo>
                  <a:lnTo>
                    <a:pt x="208928" y="166486"/>
                  </a:lnTo>
                  <a:lnTo>
                    <a:pt x="203423" y="166397"/>
                  </a:lnTo>
                  <a:lnTo>
                    <a:pt x="199338" y="166486"/>
                  </a:lnTo>
                  <a:lnTo>
                    <a:pt x="195165" y="166752"/>
                  </a:lnTo>
                  <a:lnTo>
                    <a:pt x="190814" y="167196"/>
                  </a:lnTo>
                  <a:lnTo>
                    <a:pt x="186286" y="167818"/>
                  </a:lnTo>
                  <a:lnTo>
                    <a:pt x="181757" y="168617"/>
                  </a:lnTo>
                  <a:lnTo>
                    <a:pt x="177140" y="169505"/>
                  </a:lnTo>
                  <a:lnTo>
                    <a:pt x="172523" y="170570"/>
                  </a:lnTo>
                  <a:lnTo>
                    <a:pt x="167906" y="171724"/>
                  </a:lnTo>
                  <a:lnTo>
                    <a:pt x="163289" y="173056"/>
                  </a:lnTo>
                  <a:lnTo>
                    <a:pt x="158849" y="174477"/>
                  </a:lnTo>
                  <a:lnTo>
                    <a:pt x="154498" y="175986"/>
                  </a:lnTo>
                  <a:lnTo>
                    <a:pt x="150236" y="177585"/>
                  </a:lnTo>
                  <a:lnTo>
                    <a:pt x="146241" y="179272"/>
                  </a:lnTo>
                  <a:lnTo>
                    <a:pt x="142422" y="181136"/>
                  </a:lnTo>
                  <a:lnTo>
                    <a:pt x="138871" y="183001"/>
                  </a:lnTo>
                  <a:lnTo>
                    <a:pt x="135586" y="184866"/>
                  </a:lnTo>
                  <a:lnTo>
                    <a:pt x="135586" y="43153"/>
                  </a:lnTo>
                  <a:lnTo>
                    <a:pt x="138871" y="41200"/>
                  </a:lnTo>
                  <a:lnTo>
                    <a:pt x="142422" y="39335"/>
                  </a:lnTo>
                  <a:lnTo>
                    <a:pt x="146241" y="37559"/>
                  </a:lnTo>
                  <a:lnTo>
                    <a:pt x="150236" y="35783"/>
                  </a:lnTo>
                  <a:lnTo>
                    <a:pt x="154498" y="34185"/>
                  </a:lnTo>
                  <a:lnTo>
                    <a:pt x="158849" y="32676"/>
                  </a:lnTo>
                  <a:lnTo>
                    <a:pt x="163289" y="31255"/>
                  </a:lnTo>
                  <a:lnTo>
                    <a:pt x="167906" y="29923"/>
                  </a:lnTo>
                  <a:lnTo>
                    <a:pt x="172523" y="28769"/>
                  </a:lnTo>
                  <a:lnTo>
                    <a:pt x="177140" y="27703"/>
                  </a:lnTo>
                  <a:lnTo>
                    <a:pt x="181757" y="26815"/>
                  </a:lnTo>
                  <a:lnTo>
                    <a:pt x="186286" y="26016"/>
                  </a:lnTo>
                  <a:lnTo>
                    <a:pt x="190814" y="25483"/>
                  </a:lnTo>
                  <a:lnTo>
                    <a:pt x="195165" y="25039"/>
                  </a:lnTo>
                  <a:lnTo>
                    <a:pt x="199338" y="24773"/>
                  </a:lnTo>
                  <a:lnTo>
                    <a:pt x="203423" y="24684"/>
                  </a:lnTo>
                  <a:close/>
                  <a:moveTo>
                    <a:pt x="67748" y="0"/>
                  </a:moveTo>
                  <a:lnTo>
                    <a:pt x="63220" y="89"/>
                  </a:lnTo>
                  <a:lnTo>
                    <a:pt x="58692" y="266"/>
                  </a:lnTo>
                  <a:lnTo>
                    <a:pt x="54163" y="533"/>
                  </a:lnTo>
                  <a:lnTo>
                    <a:pt x="49546" y="977"/>
                  </a:lnTo>
                  <a:lnTo>
                    <a:pt x="45018" y="1509"/>
                  </a:lnTo>
                  <a:lnTo>
                    <a:pt x="40489" y="2220"/>
                  </a:lnTo>
                  <a:lnTo>
                    <a:pt x="35961" y="3108"/>
                  </a:lnTo>
                  <a:lnTo>
                    <a:pt x="31610" y="4173"/>
                  </a:lnTo>
                  <a:lnTo>
                    <a:pt x="27259" y="5328"/>
                  </a:lnTo>
                  <a:lnTo>
                    <a:pt x="22908" y="6659"/>
                  </a:lnTo>
                  <a:lnTo>
                    <a:pt x="18824" y="8169"/>
                  </a:lnTo>
                  <a:lnTo>
                    <a:pt x="16782" y="8968"/>
                  </a:lnTo>
                  <a:lnTo>
                    <a:pt x="14739" y="9856"/>
                  </a:lnTo>
                  <a:lnTo>
                    <a:pt x="12786" y="10744"/>
                  </a:lnTo>
                  <a:lnTo>
                    <a:pt x="10833" y="11721"/>
                  </a:lnTo>
                  <a:lnTo>
                    <a:pt x="8879" y="12697"/>
                  </a:lnTo>
                  <a:lnTo>
                    <a:pt x="7015" y="13763"/>
                  </a:lnTo>
                  <a:lnTo>
                    <a:pt x="5239" y="14917"/>
                  </a:lnTo>
                  <a:lnTo>
                    <a:pt x="3463" y="16071"/>
                  </a:lnTo>
                  <a:lnTo>
                    <a:pt x="1687" y="17226"/>
                  </a:lnTo>
                  <a:lnTo>
                    <a:pt x="0" y="18469"/>
                  </a:lnTo>
                  <a:lnTo>
                    <a:pt x="0" y="199073"/>
                  </a:lnTo>
                  <a:lnTo>
                    <a:pt x="0" y="199694"/>
                  </a:lnTo>
                  <a:lnTo>
                    <a:pt x="89" y="200227"/>
                  </a:lnTo>
                  <a:lnTo>
                    <a:pt x="266" y="200760"/>
                  </a:lnTo>
                  <a:lnTo>
                    <a:pt x="533" y="201381"/>
                  </a:lnTo>
                  <a:lnTo>
                    <a:pt x="799" y="201914"/>
                  </a:lnTo>
                  <a:lnTo>
                    <a:pt x="1154" y="202358"/>
                  </a:lnTo>
                  <a:lnTo>
                    <a:pt x="1865" y="203335"/>
                  </a:lnTo>
                  <a:lnTo>
                    <a:pt x="2841" y="204134"/>
                  </a:lnTo>
                  <a:lnTo>
                    <a:pt x="3374" y="204400"/>
                  </a:lnTo>
                  <a:lnTo>
                    <a:pt x="3907" y="204755"/>
                  </a:lnTo>
                  <a:lnTo>
                    <a:pt x="4440" y="204933"/>
                  </a:lnTo>
                  <a:lnTo>
                    <a:pt x="4972" y="205110"/>
                  </a:lnTo>
                  <a:lnTo>
                    <a:pt x="5594" y="205199"/>
                  </a:lnTo>
                  <a:lnTo>
                    <a:pt x="6127" y="205288"/>
                  </a:lnTo>
                  <a:lnTo>
                    <a:pt x="6571" y="205199"/>
                  </a:lnTo>
                  <a:lnTo>
                    <a:pt x="7015" y="205110"/>
                  </a:lnTo>
                  <a:lnTo>
                    <a:pt x="7725" y="204933"/>
                  </a:lnTo>
                  <a:lnTo>
                    <a:pt x="8435" y="204755"/>
                  </a:lnTo>
                  <a:lnTo>
                    <a:pt x="8790" y="204666"/>
                  </a:lnTo>
                  <a:lnTo>
                    <a:pt x="9234" y="204666"/>
                  </a:lnTo>
                  <a:lnTo>
                    <a:pt x="12431" y="203157"/>
                  </a:lnTo>
                  <a:lnTo>
                    <a:pt x="15805" y="201736"/>
                  </a:lnTo>
                  <a:lnTo>
                    <a:pt x="19268" y="200404"/>
                  </a:lnTo>
                  <a:lnTo>
                    <a:pt x="22908" y="199161"/>
                  </a:lnTo>
                  <a:lnTo>
                    <a:pt x="26549" y="197918"/>
                  </a:lnTo>
                  <a:lnTo>
                    <a:pt x="30367" y="196853"/>
                  </a:lnTo>
                  <a:lnTo>
                    <a:pt x="34185" y="195787"/>
                  </a:lnTo>
                  <a:lnTo>
                    <a:pt x="38003" y="194810"/>
                  </a:lnTo>
                  <a:lnTo>
                    <a:pt x="41910" y="194011"/>
                  </a:lnTo>
                  <a:lnTo>
                    <a:pt x="45817" y="193212"/>
                  </a:lnTo>
                  <a:lnTo>
                    <a:pt x="49635" y="192591"/>
                  </a:lnTo>
                  <a:lnTo>
                    <a:pt x="53453" y="192058"/>
                  </a:lnTo>
                  <a:lnTo>
                    <a:pt x="57182" y="191614"/>
                  </a:lnTo>
                  <a:lnTo>
                    <a:pt x="60823" y="191348"/>
                  </a:lnTo>
                  <a:lnTo>
                    <a:pt x="64374" y="191170"/>
                  </a:lnTo>
                  <a:lnTo>
                    <a:pt x="67748" y="191081"/>
                  </a:lnTo>
                  <a:lnTo>
                    <a:pt x="72277" y="191170"/>
                  </a:lnTo>
                  <a:lnTo>
                    <a:pt x="76894" y="191348"/>
                  </a:lnTo>
                  <a:lnTo>
                    <a:pt x="81422" y="191614"/>
                  </a:lnTo>
                  <a:lnTo>
                    <a:pt x="86040" y="192058"/>
                  </a:lnTo>
                  <a:lnTo>
                    <a:pt x="90568" y="192591"/>
                  </a:lnTo>
                  <a:lnTo>
                    <a:pt x="95096" y="193390"/>
                  </a:lnTo>
                  <a:lnTo>
                    <a:pt x="99536" y="194189"/>
                  </a:lnTo>
                  <a:lnTo>
                    <a:pt x="103976" y="195254"/>
                  </a:lnTo>
                  <a:lnTo>
                    <a:pt x="108326" y="196409"/>
                  </a:lnTo>
                  <a:lnTo>
                    <a:pt x="112588" y="197741"/>
                  </a:lnTo>
                  <a:lnTo>
                    <a:pt x="116762" y="199250"/>
                  </a:lnTo>
                  <a:lnTo>
                    <a:pt x="118804" y="200049"/>
                  </a:lnTo>
                  <a:lnTo>
                    <a:pt x="120846" y="200937"/>
                  </a:lnTo>
                  <a:lnTo>
                    <a:pt x="122799" y="201825"/>
                  </a:lnTo>
                  <a:lnTo>
                    <a:pt x="124753" y="202802"/>
                  </a:lnTo>
                  <a:lnTo>
                    <a:pt x="126618" y="203867"/>
                  </a:lnTo>
                  <a:lnTo>
                    <a:pt x="128482" y="204844"/>
                  </a:lnTo>
                  <a:lnTo>
                    <a:pt x="130347" y="205998"/>
                  </a:lnTo>
                  <a:lnTo>
                    <a:pt x="132123" y="207153"/>
                  </a:lnTo>
                  <a:lnTo>
                    <a:pt x="133898" y="208307"/>
                  </a:lnTo>
                  <a:lnTo>
                    <a:pt x="135586" y="209550"/>
                  </a:lnTo>
                  <a:lnTo>
                    <a:pt x="138871" y="207597"/>
                  </a:lnTo>
                  <a:lnTo>
                    <a:pt x="142422" y="205732"/>
                  </a:lnTo>
                  <a:lnTo>
                    <a:pt x="146241" y="203956"/>
                  </a:lnTo>
                  <a:lnTo>
                    <a:pt x="150236" y="202269"/>
                  </a:lnTo>
                  <a:lnTo>
                    <a:pt x="154498" y="200671"/>
                  </a:lnTo>
                  <a:lnTo>
                    <a:pt x="158849" y="199073"/>
                  </a:lnTo>
                  <a:lnTo>
                    <a:pt x="163289" y="197652"/>
                  </a:lnTo>
                  <a:lnTo>
                    <a:pt x="167906" y="196409"/>
                  </a:lnTo>
                  <a:lnTo>
                    <a:pt x="172523" y="195166"/>
                  </a:lnTo>
                  <a:lnTo>
                    <a:pt x="177140" y="194189"/>
                  </a:lnTo>
                  <a:lnTo>
                    <a:pt x="181757" y="193212"/>
                  </a:lnTo>
                  <a:lnTo>
                    <a:pt x="186286" y="192502"/>
                  </a:lnTo>
                  <a:lnTo>
                    <a:pt x="190814" y="191880"/>
                  </a:lnTo>
                  <a:lnTo>
                    <a:pt x="195165" y="191436"/>
                  </a:lnTo>
                  <a:lnTo>
                    <a:pt x="199338" y="191170"/>
                  </a:lnTo>
                  <a:lnTo>
                    <a:pt x="203423" y="191081"/>
                  </a:lnTo>
                  <a:lnTo>
                    <a:pt x="207241" y="191081"/>
                  </a:lnTo>
                  <a:lnTo>
                    <a:pt x="211059" y="191259"/>
                  </a:lnTo>
                  <a:lnTo>
                    <a:pt x="214877" y="191436"/>
                  </a:lnTo>
                  <a:lnTo>
                    <a:pt x="218695" y="191792"/>
                  </a:lnTo>
                  <a:lnTo>
                    <a:pt x="222513" y="192235"/>
                  </a:lnTo>
                  <a:lnTo>
                    <a:pt x="226331" y="192768"/>
                  </a:lnTo>
                  <a:lnTo>
                    <a:pt x="230060" y="193390"/>
                  </a:lnTo>
                  <a:lnTo>
                    <a:pt x="233790" y="194100"/>
                  </a:lnTo>
                  <a:lnTo>
                    <a:pt x="237519" y="194899"/>
                  </a:lnTo>
                  <a:lnTo>
                    <a:pt x="241159" y="195876"/>
                  </a:lnTo>
                  <a:lnTo>
                    <a:pt x="244800" y="196941"/>
                  </a:lnTo>
                  <a:lnTo>
                    <a:pt x="248351" y="198096"/>
                  </a:lnTo>
                  <a:lnTo>
                    <a:pt x="251903" y="199428"/>
                  </a:lnTo>
                  <a:lnTo>
                    <a:pt x="255277" y="200848"/>
                  </a:lnTo>
                  <a:lnTo>
                    <a:pt x="258651" y="202358"/>
                  </a:lnTo>
                  <a:lnTo>
                    <a:pt x="261937" y="204045"/>
                  </a:lnTo>
                  <a:lnTo>
                    <a:pt x="262736" y="204400"/>
                  </a:lnTo>
                  <a:lnTo>
                    <a:pt x="263446" y="204578"/>
                  </a:lnTo>
                  <a:lnTo>
                    <a:pt x="264156" y="204666"/>
                  </a:lnTo>
                  <a:lnTo>
                    <a:pt x="265044" y="204666"/>
                  </a:lnTo>
                  <a:lnTo>
                    <a:pt x="265577" y="204578"/>
                  </a:lnTo>
                  <a:lnTo>
                    <a:pt x="266199" y="204489"/>
                  </a:lnTo>
                  <a:lnTo>
                    <a:pt x="266731" y="204311"/>
                  </a:lnTo>
                  <a:lnTo>
                    <a:pt x="267264" y="204134"/>
                  </a:lnTo>
                  <a:lnTo>
                    <a:pt x="267797" y="203867"/>
                  </a:lnTo>
                  <a:lnTo>
                    <a:pt x="268330" y="203512"/>
                  </a:lnTo>
                  <a:lnTo>
                    <a:pt x="269306" y="202713"/>
                  </a:lnTo>
                  <a:lnTo>
                    <a:pt x="270017" y="201736"/>
                  </a:lnTo>
                  <a:lnTo>
                    <a:pt x="270372" y="201292"/>
                  </a:lnTo>
                  <a:lnTo>
                    <a:pt x="270638" y="200760"/>
                  </a:lnTo>
                  <a:lnTo>
                    <a:pt x="270905" y="200138"/>
                  </a:lnTo>
                  <a:lnTo>
                    <a:pt x="271082" y="199605"/>
                  </a:lnTo>
                  <a:lnTo>
                    <a:pt x="271171" y="199073"/>
                  </a:lnTo>
                  <a:lnTo>
                    <a:pt x="271171" y="198451"/>
                  </a:lnTo>
                  <a:lnTo>
                    <a:pt x="271171" y="18469"/>
                  </a:lnTo>
                  <a:lnTo>
                    <a:pt x="268418" y="16515"/>
                  </a:lnTo>
                  <a:lnTo>
                    <a:pt x="265488" y="14651"/>
                  </a:lnTo>
                  <a:lnTo>
                    <a:pt x="262558" y="12964"/>
                  </a:lnTo>
                  <a:lnTo>
                    <a:pt x="259539" y="11365"/>
                  </a:lnTo>
                  <a:lnTo>
                    <a:pt x="256432" y="9945"/>
                  </a:lnTo>
                  <a:lnTo>
                    <a:pt x="253235" y="8613"/>
                  </a:lnTo>
                  <a:lnTo>
                    <a:pt x="249950" y="7370"/>
                  </a:lnTo>
                  <a:lnTo>
                    <a:pt x="246576" y="6127"/>
                  </a:lnTo>
                  <a:lnTo>
                    <a:pt x="243912" y="5328"/>
                  </a:lnTo>
                  <a:lnTo>
                    <a:pt x="241337" y="4617"/>
                  </a:lnTo>
                  <a:lnTo>
                    <a:pt x="238673" y="3996"/>
                  </a:lnTo>
                  <a:lnTo>
                    <a:pt x="236009" y="3374"/>
                  </a:lnTo>
                  <a:lnTo>
                    <a:pt x="233346" y="2841"/>
                  </a:lnTo>
                  <a:lnTo>
                    <a:pt x="230682" y="2309"/>
                  </a:lnTo>
                  <a:lnTo>
                    <a:pt x="225266" y="1421"/>
                  </a:lnTo>
                  <a:lnTo>
                    <a:pt x="219760" y="799"/>
                  </a:lnTo>
                  <a:lnTo>
                    <a:pt x="214255" y="355"/>
                  </a:lnTo>
                  <a:lnTo>
                    <a:pt x="208839" y="89"/>
                  </a:lnTo>
                  <a:lnTo>
                    <a:pt x="203423" y="0"/>
                  </a:lnTo>
                  <a:lnTo>
                    <a:pt x="198894" y="89"/>
                  </a:lnTo>
                  <a:lnTo>
                    <a:pt x="194277" y="266"/>
                  </a:lnTo>
                  <a:lnTo>
                    <a:pt x="189749" y="533"/>
                  </a:lnTo>
                  <a:lnTo>
                    <a:pt x="185131" y="977"/>
                  </a:lnTo>
                  <a:lnTo>
                    <a:pt x="180603" y="1509"/>
                  </a:lnTo>
                  <a:lnTo>
                    <a:pt x="176075" y="2220"/>
                  </a:lnTo>
                  <a:lnTo>
                    <a:pt x="171635" y="3108"/>
                  </a:lnTo>
                  <a:lnTo>
                    <a:pt x="167195" y="4173"/>
                  </a:lnTo>
                  <a:lnTo>
                    <a:pt x="162845" y="5328"/>
                  </a:lnTo>
                  <a:lnTo>
                    <a:pt x="158583" y="6659"/>
                  </a:lnTo>
                  <a:lnTo>
                    <a:pt x="154409" y="8169"/>
                  </a:lnTo>
                  <a:lnTo>
                    <a:pt x="152367" y="8968"/>
                  </a:lnTo>
                  <a:lnTo>
                    <a:pt x="150325" y="9856"/>
                  </a:lnTo>
                  <a:lnTo>
                    <a:pt x="148372" y="10744"/>
                  </a:lnTo>
                  <a:lnTo>
                    <a:pt x="146418" y="11721"/>
                  </a:lnTo>
                  <a:lnTo>
                    <a:pt x="144554" y="12697"/>
                  </a:lnTo>
                  <a:lnTo>
                    <a:pt x="142689" y="13763"/>
                  </a:lnTo>
                  <a:lnTo>
                    <a:pt x="140824" y="14917"/>
                  </a:lnTo>
                  <a:lnTo>
                    <a:pt x="139048" y="16071"/>
                  </a:lnTo>
                  <a:lnTo>
                    <a:pt x="137273" y="17226"/>
                  </a:lnTo>
                  <a:lnTo>
                    <a:pt x="135586" y="18469"/>
                  </a:lnTo>
                  <a:lnTo>
                    <a:pt x="133898" y="17226"/>
                  </a:lnTo>
                  <a:lnTo>
                    <a:pt x="132123" y="16071"/>
                  </a:lnTo>
                  <a:lnTo>
                    <a:pt x="130347" y="14917"/>
                  </a:lnTo>
                  <a:lnTo>
                    <a:pt x="128482" y="13763"/>
                  </a:lnTo>
                  <a:lnTo>
                    <a:pt x="126618" y="12697"/>
                  </a:lnTo>
                  <a:lnTo>
                    <a:pt x="124753" y="11721"/>
                  </a:lnTo>
                  <a:lnTo>
                    <a:pt x="122799" y="10744"/>
                  </a:lnTo>
                  <a:lnTo>
                    <a:pt x="120846" y="9856"/>
                  </a:lnTo>
                  <a:lnTo>
                    <a:pt x="118804" y="8968"/>
                  </a:lnTo>
                  <a:lnTo>
                    <a:pt x="116762" y="8169"/>
                  </a:lnTo>
                  <a:lnTo>
                    <a:pt x="112588" y="6659"/>
                  </a:lnTo>
                  <a:lnTo>
                    <a:pt x="108326" y="5328"/>
                  </a:lnTo>
                  <a:lnTo>
                    <a:pt x="103976" y="4173"/>
                  </a:lnTo>
                  <a:lnTo>
                    <a:pt x="99536" y="3108"/>
                  </a:lnTo>
                  <a:lnTo>
                    <a:pt x="95096" y="2220"/>
                  </a:lnTo>
                  <a:lnTo>
                    <a:pt x="90568" y="1509"/>
                  </a:lnTo>
                  <a:lnTo>
                    <a:pt x="86040" y="977"/>
                  </a:lnTo>
                  <a:lnTo>
                    <a:pt x="81422" y="533"/>
                  </a:lnTo>
                  <a:lnTo>
                    <a:pt x="76894" y="266"/>
                  </a:lnTo>
                  <a:lnTo>
                    <a:pt x="72277" y="89"/>
                  </a:lnTo>
                  <a:lnTo>
                    <a:pt x="6774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3"/>
            <p:cNvSpPr/>
            <p:nvPr/>
          </p:nvSpPr>
          <p:spPr>
            <a:xfrm>
              <a:off x="4118525" y="1625500"/>
              <a:ext cx="2157675" cy="765850"/>
            </a:xfrm>
            <a:custGeom>
              <a:rect b="b" l="l" r="r" t="t"/>
              <a:pathLst>
                <a:path extrusionOk="0" h="30634" w="86307">
                  <a:moveTo>
                    <a:pt x="51589" y="0"/>
                  </a:moveTo>
                  <a:lnTo>
                    <a:pt x="47682" y="178"/>
                  </a:lnTo>
                  <a:lnTo>
                    <a:pt x="43864" y="355"/>
                  </a:lnTo>
                  <a:lnTo>
                    <a:pt x="40135" y="622"/>
                  </a:lnTo>
                  <a:lnTo>
                    <a:pt x="36405" y="977"/>
                  </a:lnTo>
                  <a:lnTo>
                    <a:pt x="32765" y="1421"/>
                  </a:lnTo>
                  <a:lnTo>
                    <a:pt x="29213" y="1954"/>
                  </a:lnTo>
                  <a:lnTo>
                    <a:pt x="25662" y="2575"/>
                  </a:lnTo>
                  <a:lnTo>
                    <a:pt x="22199" y="3286"/>
                  </a:lnTo>
                  <a:lnTo>
                    <a:pt x="18825" y="3996"/>
                  </a:lnTo>
                  <a:lnTo>
                    <a:pt x="15539" y="4884"/>
                  </a:lnTo>
                  <a:lnTo>
                    <a:pt x="12254" y="5772"/>
                  </a:lnTo>
                  <a:lnTo>
                    <a:pt x="9057" y="6748"/>
                  </a:lnTo>
                  <a:lnTo>
                    <a:pt x="5950" y="7814"/>
                  </a:lnTo>
                  <a:lnTo>
                    <a:pt x="2931" y="8968"/>
                  </a:lnTo>
                  <a:lnTo>
                    <a:pt x="1" y="10211"/>
                  </a:lnTo>
                  <a:lnTo>
                    <a:pt x="1" y="30634"/>
                  </a:lnTo>
                  <a:lnTo>
                    <a:pt x="2664" y="29213"/>
                  </a:lnTo>
                  <a:lnTo>
                    <a:pt x="5417" y="27881"/>
                  </a:lnTo>
                  <a:lnTo>
                    <a:pt x="8347" y="26638"/>
                  </a:lnTo>
                  <a:lnTo>
                    <a:pt x="11455" y="25395"/>
                  </a:lnTo>
                  <a:lnTo>
                    <a:pt x="14563" y="24329"/>
                  </a:lnTo>
                  <a:lnTo>
                    <a:pt x="17848" y="23353"/>
                  </a:lnTo>
                  <a:lnTo>
                    <a:pt x="21133" y="22465"/>
                  </a:lnTo>
                  <a:lnTo>
                    <a:pt x="24596" y="21577"/>
                  </a:lnTo>
                  <a:lnTo>
                    <a:pt x="28148" y="20866"/>
                  </a:lnTo>
                  <a:lnTo>
                    <a:pt x="31788" y="20245"/>
                  </a:lnTo>
                  <a:lnTo>
                    <a:pt x="35606" y="19712"/>
                  </a:lnTo>
                  <a:lnTo>
                    <a:pt x="39424" y="19268"/>
                  </a:lnTo>
                  <a:lnTo>
                    <a:pt x="43331" y="18913"/>
                  </a:lnTo>
                  <a:lnTo>
                    <a:pt x="47238" y="18647"/>
                  </a:lnTo>
                  <a:lnTo>
                    <a:pt x="51322" y="18469"/>
                  </a:lnTo>
                  <a:lnTo>
                    <a:pt x="59491" y="18469"/>
                  </a:lnTo>
                  <a:lnTo>
                    <a:pt x="63487" y="18647"/>
                  </a:lnTo>
                  <a:lnTo>
                    <a:pt x="67483" y="18913"/>
                  </a:lnTo>
                  <a:lnTo>
                    <a:pt x="71389" y="19268"/>
                  </a:lnTo>
                  <a:lnTo>
                    <a:pt x="75207" y="19712"/>
                  </a:lnTo>
                  <a:lnTo>
                    <a:pt x="79026" y="20245"/>
                  </a:lnTo>
                  <a:lnTo>
                    <a:pt x="82666" y="20955"/>
                  </a:lnTo>
                  <a:lnTo>
                    <a:pt x="86307" y="21666"/>
                  </a:lnTo>
                  <a:lnTo>
                    <a:pt x="86307" y="2930"/>
                  </a:lnTo>
                  <a:lnTo>
                    <a:pt x="82577" y="2309"/>
                  </a:lnTo>
                  <a:lnTo>
                    <a:pt x="78848" y="1687"/>
                  </a:lnTo>
                  <a:lnTo>
                    <a:pt x="75030" y="1155"/>
                  </a:lnTo>
                  <a:lnTo>
                    <a:pt x="71212" y="711"/>
                  </a:lnTo>
                  <a:lnTo>
                    <a:pt x="67305" y="444"/>
                  </a:lnTo>
                  <a:lnTo>
                    <a:pt x="63398" y="178"/>
                  </a:lnTo>
                  <a:lnTo>
                    <a:pt x="5940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3"/>
            <p:cNvSpPr/>
            <p:nvPr/>
          </p:nvSpPr>
          <p:spPr>
            <a:xfrm>
              <a:off x="4118525" y="2444600"/>
              <a:ext cx="2157675" cy="768075"/>
            </a:xfrm>
            <a:custGeom>
              <a:rect b="b" l="l" r="r" t="t"/>
              <a:pathLst>
                <a:path extrusionOk="0" h="30723" w="86307">
                  <a:moveTo>
                    <a:pt x="51589" y="1"/>
                  </a:moveTo>
                  <a:lnTo>
                    <a:pt x="47682" y="178"/>
                  </a:lnTo>
                  <a:lnTo>
                    <a:pt x="43864" y="356"/>
                  </a:lnTo>
                  <a:lnTo>
                    <a:pt x="40135" y="711"/>
                  </a:lnTo>
                  <a:lnTo>
                    <a:pt x="36405" y="1066"/>
                  </a:lnTo>
                  <a:lnTo>
                    <a:pt x="32765" y="1510"/>
                  </a:lnTo>
                  <a:lnTo>
                    <a:pt x="29213" y="2043"/>
                  </a:lnTo>
                  <a:lnTo>
                    <a:pt x="25662" y="2664"/>
                  </a:lnTo>
                  <a:lnTo>
                    <a:pt x="22199" y="3375"/>
                  </a:lnTo>
                  <a:lnTo>
                    <a:pt x="18825" y="4085"/>
                  </a:lnTo>
                  <a:lnTo>
                    <a:pt x="15539" y="4973"/>
                  </a:lnTo>
                  <a:lnTo>
                    <a:pt x="12254" y="5861"/>
                  </a:lnTo>
                  <a:lnTo>
                    <a:pt x="9057" y="6838"/>
                  </a:lnTo>
                  <a:lnTo>
                    <a:pt x="5950" y="7903"/>
                  </a:lnTo>
                  <a:lnTo>
                    <a:pt x="2931" y="9057"/>
                  </a:lnTo>
                  <a:lnTo>
                    <a:pt x="1" y="10212"/>
                  </a:lnTo>
                  <a:lnTo>
                    <a:pt x="1" y="30723"/>
                  </a:lnTo>
                  <a:lnTo>
                    <a:pt x="2664" y="29213"/>
                  </a:lnTo>
                  <a:lnTo>
                    <a:pt x="5417" y="27881"/>
                  </a:lnTo>
                  <a:lnTo>
                    <a:pt x="8347" y="26638"/>
                  </a:lnTo>
                  <a:lnTo>
                    <a:pt x="11455" y="25484"/>
                  </a:lnTo>
                  <a:lnTo>
                    <a:pt x="14563" y="24330"/>
                  </a:lnTo>
                  <a:lnTo>
                    <a:pt x="17848" y="23353"/>
                  </a:lnTo>
                  <a:lnTo>
                    <a:pt x="21133" y="22465"/>
                  </a:lnTo>
                  <a:lnTo>
                    <a:pt x="24596" y="21666"/>
                  </a:lnTo>
                  <a:lnTo>
                    <a:pt x="28148" y="20867"/>
                  </a:lnTo>
                  <a:lnTo>
                    <a:pt x="31788" y="20245"/>
                  </a:lnTo>
                  <a:lnTo>
                    <a:pt x="35606" y="19713"/>
                  </a:lnTo>
                  <a:lnTo>
                    <a:pt x="39424" y="19269"/>
                  </a:lnTo>
                  <a:lnTo>
                    <a:pt x="43331" y="18913"/>
                  </a:lnTo>
                  <a:lnTo>
                    <a:pt x="47238" y="18647"/>
                  </a:lnTo>
                  <a:lnTo>
                    <a:pt x="51322" y="18558"/>
                  </a:lnTo>
                  <a:lnTo>
                    <a:pt x="55496" y="18469"/>
                  </a:lnTo>
                  <a:lnTo>
                    <a:pt x="59491" y="18558"/>
                  </a:lnTo>
                  <a:lnTo>
                    <a:pt x="63487" y="18736"/>
                  </a:lnTo>
                  <a:lnTo>
                    <a:pt x="67483" y="18913"/>
                  </a:lnTo>
                  <a:lnTo>
                    <a:pt x="71389" y="19269"/>
                  </a:lnTo>
                  <a:lnTo>
                    <a:pt x="75207" y="19801"/>
                  </a:lnTo>
                  <a:lnTo>
                    <a:pt x="79026" y="20334"/>
                  </a:lnTo>
                  <a:lnTo>
                    <a:pt x="82666" y="20956"/>
                  </a:lnTo>
                  <a:lnTo>
                    <a:pt x="86307" y="21666"/>
                  </a:lnTo>
                  <a:lnTo>
                    <a:pt x="86307" y="2931"/>
                  </a:lnTo>
                  <a:lnTo>
                    <a:pt x="82577" y="2309"/>
                  </a:lnTo>
                  <a:lnTo>
                    <a:pt x="78848" y="1688"/>
                  </a:lnTo>
                  <a:lnTo>
                    <a:pt x="75030" y="1244"/>
                  </a:lnTo>
                  <a:lnTo>
                    <a:pt x="71212" y="800"/>
                  </a:lnTo>
                  <a:lnTo>
                    <a:pt x="67305" y="445"/>
                  </a:lnTo>
                  <a:lnTo>
                    <a:pt x="63398" y="178"/>
                  </a:lnTo>
                  <a:lnTo>
                    <a:pt x="59403" y="89"/>
                  </a:lnTo>
                  <a:lnTo>
                    <a:pt x="5549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3"/>
            <p:cNvSpPr/>
            <p:nvPr/>
          </p:nvSpPr>
          <p:spPr>
            <a:xfrm>
              <a:off x="4118525" y="3268150"/>
              <a:ext cx="2157675" cy="765850"/>
            </a:xfrm>
            <a:custGeom>
              <a:rect b="b" l="l" r="r" t="t"/>
              <a:pathLst>
                <a:path extrusionOk="0" h="30634" w="86307">
                  <a:moveTo>
                    <a:pt x="51589" y="1"/>
                  </a:moveTo>
                  <a:lnTo>
                    <a:pt x="47682" y="178"/>
                  </a:lnTo>
                  <a:lnTo>
                    <a:pt x="43864" y="356"/>
                  </a:lnTo>
                  <a:lnTo>
                    <a:pt x="40135" y="622"/>
                  </a:lnTo>
                  <a:lnTo>
                    <a:pt x="36405" y="977"/>
                  </a:lnTo>
                  <a:lnTo>
                    <a:pt x="32765" y="1421"/>
                  </a:lnTo>
                  <a:lnTo>
                    <a:pt x="29213" y="1954"/>
                  </a:lnTo>
                  <a:lnTo>
                    <a:pt x="25662" y="2576"/>
                  </a:lnTo>
                  <a:lnTo>
                    <a:pt x="22199" y="3286"/>
                  </a:lnTo>
                  <a:lnTo>
                    <a:pt x="18825" y="3996"/>
                  </a:lnTo>
                  <a:lnTo>
                    <a:pt x="15539" y="4884"/>
                  </a:lnTo>
                  <a:lnTo>
                    <a:pt x="12254" y="5772"/>
                  </a:lnTo>
                  <a:lnTo>
                    <a:pt x="9057" y="6749"/>
                  </a:lnTo>
                  <a:lnTo>
                    <a:pt x="5950" y="7814"/>
                  </a:lnTo>
                  <a:lnTo>
                    <a:pt x="2931" y="8969"/>
                  </a:lnTo>
                  <a:lnTo>
                    <a:pt x="1" y="10212"/>
                  </a:lnTo>
                  <a:lnTo>
                    <a:pt x="1" y="30634"/>
                  </a:lnTo>
                  <a:lnTo>
                    <a:pt x="2664" y="29213"/>
                  </a:lnTo>
                  <a:lnTo>
                    <a:pt x="5417" y="27881"/>
                  </a:lnTo>
                  <a:lnTo>
                    <a:pt x="8347" y="26638"/>
                  </a:lnTo>
                  <a:lnTo>
                    <a:pt x="11455" y="25395"/>
                  </a:lnTo>
                  <a:lnTo>
                    <a:pt x="14563" y="24330"/>
                  </a:lnTo>
                  <a:lnTo>
                    <a:pt x="17848" y="23353"/>
                  </a:lnTo>
                  <a:lnTo>
                    <a:pt x="21133" y="22465"/>
                  </a:lnTo>
                  <a:lnTo>
                    <a:pt x="24596" y="21577"/>
                  </a:lnTo>
                  <a:lnTo>
                    <a:pt x="28148" y="20867"/>
                  </a:lnTo>
                  <a:lnTo>
                    <a:pt x="31788" y="20245"/>
                  </a:lnTo>
                  <a:lnTo>
                    <a:pt x="35606" y="19713"/>
                  </a:lnTo>
                  <a:lnTo>
                    <a:pt x="39424" y="19269"/>
                  </a:lnTo>
                  <a:lnTo>
                    <a:pt x="43331" y="18913"/>
                  </a:lnTo>
                  <a:lnTo>
                    <a:pt x="47238" y="18647"/>
                  </a:lnTo>
                  <a:lnTo>
                    <a:pt x="51322" y="18469"/>
                  </a:lnTo>
                  <a:lnTo>
                    <a:pt x="55496" y="18469"/>
                  </a:lnTo>
                  <a:lnTo>
                    <a:pt x="59491" y="18558"/>
                  </a:lnTo>
                  <a:lnTo>
                    <a:pt x="63487" y="18647"/>
                  </a:lnTo>
                  <a:lnTo>
                    <a:pt x="67483" y="18913"/>
                  </a:lnTo>
                  <a:lnTo>
                    <a:pt x="71389" y="19269"/>
                  </a:lnTo>
                  <a:lnTo>
                    <a:pt x="75207" y="19713"/>
                  </a:lnTo>
                  <a:lnTo>
                    <a:pt x="79026" y="20245"/>
                  </a:lnTo>
                  <a:lnTo>
                    <a:pt x="82666" y="20956"/>
                  </a:lnTo>
                  <a:lnTo>
                    <a:pt x="86307" y="21666"/>
                  </a:lnTo>
                  <a:lnTo>
                    <a:pt x="86307" y="2931"/>
                  </a:lnTo>
                  <a:lnTo>
                    <a:pt x="82577" y="2220"/>
                  </a:lnTo>
                  <a:lnTo>
                    <a:pt x="78848" y="1599"/>
                  </a:lnTo>
                  <a:lnTo>
                    <a:pt x="75030" y="1155"/>
                  </a:lnTo>
                  <a:lnTo>
                    <a:pt x="71212" y="711"/>
                  </a:lnTo>
                  <a:lnTo>
                    <a:pt x="67305" y="356"/>
                  </a:lnTo>
                  <a:lnTo>
                    <a:pt x="63398" y="178"/>
                  </a:lnTo>
                  <a:lnTo>
                    <a:pt x="5940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4"/>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Next steps</a:t>
            </a:r>
            <a:endParaRPr b="0" i="0" sz="2400" u="none" cap="none" strike="noStrike">
              <a:solidFill>
                <a:srgbClr val="5F6368"/>
              </a:solidFill>
              <a:latin typeface="Open Sans"/>
              <a:ea typeface="Open Sans"/>
              <a:cs typeface="Open Sans"/>
              <a:sym typeface="Open Sans"/>
            </a:endParaRPr>
          </a:p>
        </p:txBody>
      </p:sp>
      <p:sp>
        <p:nvSpPr>
          <p:cNvPr id="404" name="Google Shape;404;p24"/>
          <p:cNvSpPr/>
          <p:nvPr/>
        </p:nvSpPr>
        <p:spPr>
          <a:xfrm>
            <a:off x="5176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4"/>
          <p:cNvSpPr txBox="1"/>
          <p:nvPr/>
        </p:nvSpPr>
        <p:spPr>
          <a:xfrm>
            <a:off x="711325" y="1917800"/>
            <a:ext cx="20490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t>Run another usability round after revisions, especially around passenger types and the fare-to-confirmation flow, to check whether the observed confusion has been resolved.</a:t>
            </a:r>
            <a:endParaRPr b="0" i="0" sz="1200" u="none" cap="none" strike="noStrike">
              <a:solidFill>
                <a:srgbClr val="000000"/>
              </a:solidFill>
              <a:latin typeface="Arial"/>
              <a:ea typeface="Arial"/>
              <a:cs typeface="Arial"/>
              <a:sym typeface="Arial"/>
            </a:endParaRPr>
          </a:p>
        </p:txBody>
      </p:sp>
      <p:sp>
        <p:nvSpPr>
          <p:cNvPr id="406" name="Google Shape;406;p24"/>
          <p:cNvSpPr/>
          <p:nvPr/>
        </p:nvSpPr>
        <p:spPr>
          <a:xfrm>
            <a:off x="31752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24"/>
          <p:cNvSpPr txBox="1"/>
          <p:nvPr/>
        </p:nvSpPr>
        <p:spPr>
          <a:xfrm>
            <a:off x="3368925" y="1917800"/>
            <a:ext cx="20490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t>Test with a broader mix of travellers and measure task completion, errors, and time-on-task to validate whether the redesign improves usability.</a:t>
            </a:r>
            <a:endParaRPr b="0" i="0" sz="1200" u="none" cap="none" strike="noStrike">
              <a:solidFill>
                <a:srgbClr val="000000"/>
              </a:solidFill>
              <a:latin typeface="Arial"/>
              <a:ea typeface="Arial"/>
              <a:cs typeface="Arial"/>
              <a:sym typeface="Arial"/>
            </a:endParaRPr>
          </a:p>
        </p:txBody>
      </p:sp>
      <p:sp>
        <p:nvSpPr>
          <p:cNvPr id="408" name="Google Shape;408;p24"/>
          <p:cNvSpPr/>
          <p:nvPr/>
        </p:nvSpPr>
        <p:spPr>
          <a:xfrm>
            <a:off x="5832875" y="1472325"/>
            <a:ext cx="2436300" cy="31743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4"/>
          <p:cNvSpPr txBox="1"/>
          <p:nvPr/>
        </p:nvSpPr>
        <p:spPr>
          <a:xfrm>
            <a:off x="6026525" y="1917800"/>
            <a:ext cx="2049000" cy="1006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t>Review the original Google Forms response spreadsheet to calculate survey summaries, then refine accessibility and test the updated flow again.</a:t>
            </a:r>
            <a:endParaRPr b="0" i="0" sz="1200" u="none" cap="none" strike="noStrike">
              <a:solidFill>
                <a:srgbClr val="000000"/>
              </a:solidFill>
              <a:latin typeface="Arial"/>
              <a:ea typeface="Arial"/>
              <a:cs typeface="Arial"/>
              <a:sym typeface="Arial"/>
            </a:endParaRPr>
          </a:p>
        </p:txBody>
      </p:sp>
      <p:sp>
        <p:nvSpPr>
          <p:cNvPr id="410" name="Google Shape;410;p24"/>
          <p:cNvSpPr/>
          <p:nvPr/>
        </p:nvSpPr>
        <p:spPr>
          <a:xfrm>
            <a:off x="14791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1</a:t>
            </a:r>
            <a:endParaRPr b="0" i="0" sz="2200" u="none" cap="none" strike="noStrike">
              <a:solidFill>
                <a:srgbClr val="FFFFFF"/>
              </a:solidFill>
              <a:latin typeface="Google Sans Medium"/>
              <a:ea typeface="Google Sans Medium"/>
              <a:cs typeface="Google Sans Medium"/>
              <a:sym typeface="Google Sans Medium"/>
            </a:endParaRPr>
          </a:p>
        </p:txBody>
      </p:sp>
      <p:sp>
        <p:nvSpPr>
          <p:cNvPr id="411" name="Google Shape;411;p24"/>
          <p:cNvSpPr/>
          <p:nvPr/>
        </p:nvSpPr>
        <p:spPr>
          <a:xfrm>
            <a:off x="41367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2</a:t>
            </a:r>
            <a:endParaRPr b="0" i="0" sz="2200" u="none" cap="none" strike="noStrike">
              <a:solidFill>
                <a:srgbClr val="FFFFFF"/>
              </a:solidFill>
              <a:latin typeface="Google Sans Medium"/>
              <a:ea typeface="Google Sans Medium"/>
              <a:cs typeface="Google Sans Medium"/>
              <a:sym typeface="Google Sans Medium"/>
            </a:endParaRPr>
          </a:p>
        </p:txBody>
      </p:sp>
      <p:sp>
        <p:nvSpPr>
          <p:cNvPr id="412" name="Google Shape;412;p24"/>
          <p:cNvSpPr/>
          <p:nvPr/>
        </p:nvSpPr>
        <p:spPr>
          <a:xfrm>
            <a:off x="6794375" y="1187633"/>
            <a:ext cx="513300" cy="513300"/>
          </a:xfrm>
          <a:prstGeom prst="ellipse">
            <a:avLst/>
          </a:prstGeom>
          <a:solidFill>
            <a:srgbClr val="5F636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200"/>
              <a:buFont typeface="Arial"/>
              <a:buNone/>
            </a:pPr>
            <a:r>
              <a:rPr b="0" i="0" lang="en" sz="2200" u="none" cap="none" strike="noStrike">
                <a:solidFill>
                  <a:srgbClr val="FFFFFF"/>
                </a:solidFill>
                <a:latin typeface="Google Sans Medium"/>
                <a:ea typeface="Google Sans Medium"/>
                <a:cs typeface="Google Sans Medium"/>
                <a:sym typeface="Google Sans Medium"/>
              </a:rPr>
              <a:t>3</a:t>
            </a:r>
            <a:endParaRPr b="0" i="0" sz="2200" u="none" cap="none" strike="noStrike">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5"/>
          <p:cNvSpPr txBox="1"/>
          <p:nvPr/>
        </p:nvSpPr>
        <p:spPr>
          <a:xfrm>
            <a:off x="517675" y="524338"/>
            <a:ext cx="4931100" cy="5541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5F6368"/>
                </a:solidFill>
                <a:latin typeface="Open Sans"/>
                <a:ea typeface="Open Sans"/>
                <a:cs typeface="Open Sans"/>
                <a:sym typeface="Open Sans"/>
              </a:rPr>
              <a:t>Let’s connect!</a:t>
            </a:r>
            <a:endParaRPr b="0" i="0" sz="2400" u="none" cap="none" strike="noStrike">
              <a:solidFill>
                <a:srgbClr val="5F6368"/>
              </a:solidFill>
              <a:latin typeface="Open Sans"/>
              <a:ea typeface="Open Sans"/>
              <a:cs typeface="Open Sans"/>
              <a:sym typeface="Open Sans"/>
            </a:endParaRPr>
          </a:p>
        </p:txBody>
      </p:sp>
      <p:sp>
        <p:nvSpPr>
          <p:cNvPr id="418" name="Google Shape;418;p25"/>
          <p:cNvSpPr txBox="1"/>
          <p:nvPr/>
        </p:nvSpPr>
        <p:spPr>
          <a:xfrm>
            <a:off x="3064600" y="-1016100"/>
            <a:ext cx="65094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5F6368"/>
                </a:solidFill>
                <a:latin typeface="Open Sans"/>
                <a:ea typeface="Open Sans"/>
                <a:cs typeface="Open Sans"/>
                <a:sym typeface="Open Sans"/>
              </a:rPr>
              <a:t>Next, I would validate the prototype with more diverse travellers, measure task completion and time-on-task, and compare the survey scores using the original response spreadsheet. I would then refine accessibility and test the updated flow again. </a:t>
            </a:r>
            <a:endParaRPr b="0" i="0" sz="1400" u="none" cap="none" strike="noStrike">
              <a:solidFill>
                <a:srgbClr val="5F6368"/>
              </a:solidFill>
              <a:latin typeface="Open Sans"/>
              <a:ea typeface="Open Sans"/>
              <a:cs typeface="Open Sans"/>
              <a:sym typeface="Open Sans"/>
            </a:endParaRPr>
          </a:p>
        </p:txBody>
      </p:sp>
      <p:sp>
        <p:nvSpPr>
          <p:cNvPr id="419" name="Google Shape;419;p25"/>
          <p:cNvSpPr/>
          <p:nvPr/>
        </p:nvSpPr>
        <p:spPr>
          <a:xfrm>
            <a:off x="517675" y="1832019"/>
            <a:ext cx="7938900" cy="2510400"/>
          </a:xfrm>
          <a:prstGeom prst="rect">
            <a:avLst/>
          </a:prstGeom>
          <a:solidFill>
            <a:srgbClr val="F8F9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5"/>
          <p:cNvSpPr txBox="1"/>
          <p:nvPr/>
        </p:nvSpPr>
        <p:spPr>
          <a:xfrm>
            <a:off x="919075" y="2461800"/>
            <a:ext cx="7136100" cy="1006500"/>
          </a:xfrm>
          <a:prstGeom prst="rect">
            <a:avLst/>
          </a:prstGeom>
          <a:noFill/>
          <a:ln>
            <a:noFill/>
          </a:ln>
        </p:spPr>
        <p:txBody>
          <a:bodyPr anchorCtr="0" anchor="t" bIns="91425" lIns="0" spcFirstLastPara="1" rIns="91425" wrap="square" tIns="91425">
            <a:spAutoFit/>
          </a:bodyPr>
          <a:lstStyle/>
          <a:p>
            <a:pPr indent="0" lvl="0" marL="0" marR="0" rtl="0" algn="ctr">
              <a:lnSpc>
                <a:spcPct val="115000"/>
              </a:lnSpc>
              <a:spcBef>
                <a:spcPts val="0"/>
              </a:spcBef>
              <a:spcAft>
                <a:spcPts val="0"/>
              </a:spcAft>
              <a:buClr>
                <a:schemeClr val="dk1"/>
              </a:buClr>
              <a:buSzPts val="1100"/>
              <a:buFont typeface="Arial"/>
              <a:buNone/>
            </a:pPr>
            <a:r>
              <a:t>Thank you for reviewing this case study. Contact: [add your preferred email] | Portfolio/Figma: [add your link].</a:t>
            </a:r>
            <a:endParaRPr b="0" i="0" sz="1200" u="none" cap="none" strike="noStrike">
              <a:solidFill>
                <a:srgbClr val="5F6368"/>
              </a:solidFill>
              <a:latin typeface="Open Sans"/>
              <a:ea typeface="Open Sans"/>
              <a:cs typeface="Open Sans"/>
              <a:sym typeface="Open Sans"/>
            </a:endParaRPr>
          </a:p>
        </p:txBody>
      </p:sp>
      <p:sp>
        <p:nvSpPr>
          <p:cNvPr id="421" name="Google Shape;421;p25"/>
          <p:cNvSpPr/>
          <p:nvPr/>
        </p:nvSpPr>
        <p:spPr>
          <a:xfrm>
            <a:off x="4230475" y="1602212"/>
            <a:ext cx="513300" cy="513300"/>
          </a:xfrm>
          <a:prstGeom prst="ellipse">
            <a:avLst/>
          </a:prstGeom>
          <a:solidFill>
            <a:srgbClr val="5F63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5"/>
          <p:cNvSpPr/>
          <p:nvPr/>
        </p:nvSpPr>
        <p:spPr>
          <a:xfrm>
            <a:off x="4361825" y="1734124"/>
            <a:ext cx="250599" cy="249449"/>
          </a:xfrm>
          <a:custGeom>
            <a:rect b="b" l="l" r="r" t="t"/>
            <a:pathLst>
              <a:path extrusionOk="0" h="962" w="964">
                <a:moveTo>
                  <a:pt x="774" y="400"/>
                </a:moveTo>
                <a:lnTo>
                  <a:pt x="562" y="189"/>
                </a:lnTo>
                <a:lnTo>
                  <a:pt x="0" y="749"/>
                </a:lnTo>
                <a:lnTo>
                  <a:pt x="0" y="961"/>
                </a:lnTo>
                <a:lnTo>
                  <a:pt x="212" y="961"/>
                </a:lnTo>
                <a:lnTo>
                  <a:pt x="774" y="400"/>
                </a:lnTo>
                <a:close/>
                <a:moveTo>
                  <a:pt x="940" y="234"/>
                </a:moveTo>
                <a:cubicBezTo>
                  <a:pt x="963" y="211"/>
                  <a:pt x="963" y="177"/>
                  <a:pt x="940" y="155"/>
                </a:cubicBezTo>
                <a:lnTo>
                  <a:pt x="807" y="22"/>
                </a:lnTo>
                <a:cubicBezTo>
                  <a:pt x="785" y="0"/>
                  <a:pt x="751" y="0"/>
                  <a:pt x="728" y="22"/>
                </a:cubicBezTo>
                <a:lnTo>
                  <a:pt x="618" y="132"/>
                </a:lnTo>
                <a:lnTo>
                  <a:pt x="830" y="344"/>
                </a:lnTo>
                <a:lnTo>
                  <a:pt x="940" y="23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